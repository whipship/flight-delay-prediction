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Raleway" charset="1" panose="020B0503030101060003"/>
      <p:regular r:id="rId26"/>
    </p:embeddedFont>
    <p:embeddedFont>
      <p:font typeface="Raleway Bold" charset="1" panose="020B0803030101060003"/>
      <p:regular r:id="rId27"/>
    </p:embeddedFont>
    <p:embeddedFont>
      <p:font typeface="Fredoka" charset="1" panose="02000000000000000000"/>
      <p:regular r:id="rId28"/>
    </p:embeddedFont>
    <p:embeddedFont>
      <p:font typeface="Canva Sans Bold" charset="1" panose="020B0803030501040103"/>
      <p:regular r:id="rId29"/>
    </p:embeddedFont>
    <p:embeddedFont>
      <p:font typeface="Canva Sans" charset="1" panose="020B0503030501040103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embeddings/oleObject1.bin" Type="http://schemas.openxmlformats.org/officeDocument/2006/relationships/oleObject"/><Relationship Id="rId7" Target="../media/image5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embeddings/oleObject2.bin" Type="http://schemas.openxmlformats.org/officeDocument/2006/relationships/oleObject"/><Relationship Id="rId6" Target="../media/image31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embeddings/oleObject3.bin" Type="http://schemas.openxmlformats.org/officeDocument/2006/relationships/oleObject"/><Relationship Id="rId7" Target="../media/image5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6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5.png" Type="http://schemas.openxmlformats.org/officeDocument/2006/relationships/image"/><Relationship Id="rId6" Target="../media/image38.png" Type="http://schemas.openxmlformats.org/officeDocument/2006/relationships/image"/><Relationship Id="rId7" Target="../embeddings/oleObject4.bin" Type="http://schemas.openxmlformats.org/officeDocument/2006/relationships/oleObject"/><Relationship Id="rId8" Target="../media/image3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95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09807" y="-309859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49053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68668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5274950" cy="26746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74950" cy="2674622"/>
            </a:xfrm>
            <a:custGeom>
              <a:avLst/>
              <a:gdLst/>
              <a:ahLst/>
              <a:cxnLst/>
              <a:rect r="r" b="b" t="t" l="l"/>
              <a:pathLst>
                <a:path h="2674622" w="5274950">
                  <a:moveTo>
                    <a:pt x="23850" y="0"/>
                  </a:moveTo>
                  <a:lnTo>
                    <a:pt x="5251100" y="0"/>
                  </a:lnTo>
                  <a:cubicBezTo>
                    <a:pt x="5264272" y="0"/>
                    <a:pt x="5274950" y="10678"/>
                    <a:pt x="5274950" y="23850"/>
                  </a:cubicBezTo>
                  <a:lnTo>
                    <a:pt x="5274950" y="2650773"/>
                  </a:lnTo>
                  <a:cubicBezTo>
                    <a:pt x="5274950" y="2657098"/>
                    <a:pt x="5272437" y="2663164"/>
                    <a:pt x="5267964" y="2667637"/>
                  </a:cubicBezTo>
                  <a:cubicBezTo>
                    <a:pt x="5263492" y="2672110"/>
                    <a:pt x="5257425" y="2674622"/>
                    <a:pt x="5251100" y="2674622"/>
                  </a:cubicBezTo>
                  <a:lnTo>
                    <a:pt x="23850" y="2674622"/>
                  </a:lnTo>
                  <a:cubicBezTo>
                    <a:pt x="17524" y="2674622"/>
                    <a:pt x="11458" y="2672110"/>
                    <a:pt x="6985" y="2667637"/>
                  </a:cubicBezTo>
                  <a:cubicBezTo>
                    <a:pt x="2513" y="2663164"/>
                    <a:pt x="0" y="2657098"/>
                    <a:pt x="0" y="265077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274950" cy="2722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778121">
            <a:off x="131225" y="4603926"/>
            <a:ext cx="6124520" cy="5060384"/>
          </a:xfrm>
          <a:custGeom>
            <a:avLst/>
            <a:gdLst/>
            <a:ahLst/>
            <a:cxnLst/>
            <a:rect r="r" b="b" t="t" l="l"/>
            <a:pathLst>
              <a:path h="5060384" w="6124520">
                <a:moveTo>
                  <a:pt x="0" y="0"/>
                </a:moveTo>
                <a:lnTo>
                  <a:pt x="6124519" y="0"/>
                </a:lnTo>
                <a:lnTo>
                  <a:pt x="6124519" y="5060384"/>
                </a:lnTo>
                <a:lnTo>
                  <a:pt x="0" y="50603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891422" y="4766183"/>
            <a:ext cx="10062165" cy="1057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Data-Driven Analysis of Hardware Drivers &amp; Pricing Tiers for Modern Mobile Devices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66046" y="6060711"/>
            <a:ext cx="8187540" cy="379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Prepared by:</a:t>
            </a:r>
          </a:p>
          <a:p>
            <a:pPr algn="r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Abdelrahman El Khashab 23-101182</a:t>
            </a:r>
          </a:p>
          <a:p>
            <a:pPr algn="r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Abdullah Helmy 23-101239</a:t>
            </a:r>
          </a:p>
          <a:p>
            <a:pPr algn="r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Mariam Hassan 23-101309</a:t>
            </a:r>
          </a:p>
          <a:p>
            <a:pPr algn="r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Maryam Rageh 23-101297</a:t>
            </a:r>
          </a:p>
          <a:p>
            <a:pPr algn="r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Mohamed Elshabouri 23-101334</a:t>
            </a:r>
          </a:p>
          <a:p>
            <a:pPr algn="r">
              <a:lnSpc>
                <a:spcPts val="3780"/>
              </a:lnSpc>
            </a:pPr>
          </a:p>
          <a:p>
            <a:pPr algn="r">
              <a:lnSpc>
                <a:spcPts val="378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563446" y="1949973"/>
            <a:ext cx="12390140" cy="3416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DECODING THE SMARTPHONE MARKET: PRICE PREDICTION</a:t>
            </a:r>
          </a:p>
          <a:p>
            <a:pPr algn="r">
              <a:lnSpc>
                <a:spcPts val="9100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28700" y="1028700"/>
            <a:ext cx="1091377" cy="1149498"/>
          </a:xfrm>
          <a:custGeom>
            <a:avLst/>
            <a:gdLst/>
            <a:ahLst/>
            <a:cxnLst/>
            <a:rect r="r" b="b" t="t" l="l"/>
            <a:pathLst>
              <a:path h="1149498" w="1091377">
                <a:moveTo>
                  <a:pt x="0" y="0"/>
                </a:moveTo>
                <a:lnTo>
                  <a:pt x="1091377" y="0"/>
                </a:lnTo>
                <a:lnTo>
                  <a:pt x="1091377" y="1149498"/>
                </a:lnTo>
                <a:lnTo>
                  <a:pt x="0" y="11494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7395" t="-14434" r="-35019" b="-49263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109802" y="1028700"/>
            <a:ext cx="1149498" cy="1149498"/>
          </a:xfrm>
          <a:custGeom>
            <a:avLst/>
            <a:gdLst/>
            <a:ahLst/>
            <a:cxnLst/>
            <a:rect r="r" b="b" t="t" l="l"/>
            <a:pathLst>
              <a:path h="1149498" w="1149498">
                <a:moveTo>
                  <a:pt x="0" y="0"/>
                </a:moveTo>
                <a:lnTo>
                  <a:pt x="1149498" y="0"/>
                </a:lnTo>
                <a:lnTo>
                  <a:pt x="1149498" y="1149498"/>
                </a:lnTo>
                <a:lnTo>
                  <a:pt x="0" y="11494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534" t="-2551" r="-20107" b="-73923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95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09807" y="-309859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49053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68668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12049493" cy="8229600"/>
            <a:chOff x="0" y="0"/>
            <a:chExt cx="3916088" cy="26746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16088" cy="2674622"/>
            </a:xfrm>
            <a:custGeom>
              <a:avLst/>
              <a:gdLst/>
              <a:ahLst/>
              <a:cxnLst/>
              <a:rect r="r" b="b" t="t" l="l"/>
              <a:pathLst>
                <a:path h="2674622" w="3916088">
                  <a:moveTo>
                    <a:pt x="32126" y="0"/>
                  </a:moveTo>
                  <a:lnTo>
                    <a:pt x="3883963" y="0"/>
                  </a:lnTo>
                  <a:cubicBezTo>
                    <a:pt x="3901705" y="0"/>
                    <a:pt x="3916088" y="14383"/>
                    <a:pt x="3916088" y="32126"/>
                  </a:cubicBezTo>
                  <a:lnTo>
                    <a:pt x="3916088" y="2642497"/>
                  </a:lnTo>
                  <a:cubicBezTo>
                    <a:pt x="3916088" y="2651017"/>
                    <a:pt x="3912704" y="2659188"/>
                    <a:pt x="3906679" y="2665213"/>
                  </a:cubicBezTo>
                  <a:cubicBezTo>
                    <a:pt x="3900655" y="2671238"/>
                    <a:pt x="3892483" y="2674622"/>
                    <a:pt x="3883963" y="2674622"/>
                  </a:cubicBezTo>
                  <a:lnTo>
                    <a:pt x="32126" y="2674622"/>
                  </a:lnTo>
                  <a:cubicBezTo>
                    <a:pt x="14383" y="2674622"/>
                    <a:pt x="0" y="2660239"/>
                    <a:pt x="0" y="2642497"/>
                  </a:cubicBezTo>
                  <a:lnTo>
                    <a:pt x="0" y="32126"/>
                  </a:lnTo>
                  <a:cubicBezTo>
                    <a:pt x="0" y="23605"/>
                    <a:pt x="3385" y="15434"/>
                    <a:pt x="9409" y="9409"/>
                  </a:cubicBezTo>
                  <a:cubicBezTo>
                    <a:pt x="15434" y="3385"/>
                    <a:pt x="23605" y="0"/>
                    <a:pt x="3212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916088" cy="2722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665781" y="4645123"/>
            <a:ext cx="7341660" cy="5432828"/>
          </a:xfrm>
          <a:custGeom>
            <a:avLst/>
            <a:gdLst/>
            <a:ahLst/>
            <a:cxnLst/>
            <a:rect r="r" b="b" t="t" l="l"/>
            <a:pathLst>
              <a:path h="5432828" w="7341660">
                <a:moveTo>
                  <a:pt x="0" y="0"/>
                </a:moveTo>
                <a:lnTo>
                  <a:pt x="7341660" y="0"/>
                </a:lnTo>
                <a:lnTo>
                  <a:pt x="7341660" y="5432828"/>
                </a:lnTo>
                <a:lnTo>
                  <a:pt x="0" y="5432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58357" y="1651261"/>
            <a:ext cx="4756845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CONTENT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9044" y="3711886"/>
            <a:ext cx="11168805" cy="493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72" indent="-377836" lvl="1">
              <a:lnSpc>
                <a:spcPts val="4900"/>
              </a:lnSpc>
              <a:buAutoNum type="arabicPeriod" startAt="1"/>
            </a:pPr>
            <a:r>
              <a:rPr lang="en-US" sz="3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DATASET</a:t>
            </a:r>
          </a:p>
          <a:p>
            <a:pPr algn="l" marL="755672" indent="-377836" lvl="1">
              <a:lnSpc>
                <a:spcPts val="4900"/>
              </a:lnSpc>
              <a:buAutoNum type="arabicPeriod" startAt="1"/>
            </a:pPr>
            <a:r>
              <a:rPr lang="en-US" sz="3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DATA CLEANING</a:t>
            </a:r>
          </a:p>
          <a:p>
            <a:pPr algn="l" marL="755672" indent="-377836" lvl="1">
              <a:lnSpc>
                <a:spcPts val="4900"/>
              </a:lnSpc>
              <a:buAutoNum type="arabicPeriod" startAt="1"/>
            </a:pPr>
            <a:r>
              <a:rPr lang="en-US" sz="3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METHDOLOGY</a:t>
            </a:r>
          </a:p>
          <a:p>
            <a:pPr algn="l" marL="755672" indent="-377836" lvl="1">
              <a:lnSpc>
                <a:spcPts val="4900"/>
              </a:lnSpc>
              <a:buAutoNum type="arabicPeriod" startAt="1"/>
            </a:pPr>
            <a:r>
              <a:rPr lang="en-US" sz="3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PREPROCESSING DATA</a:t>
            </a:r>
          </a:p>
          <a:p>
            <a:pPr algn="l" marL="755672" indent="-377836" lvl="1">
              <a:lnSpc>
                <a:spcPts val="4900"/>
              </a:lnSpc>
              <a:buAutoNum type="arabicPeriod" startAt="1"/>
            </a:pPr>
            <a:r>
              <a:rPr lang="en-US" sz="3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REGRESSION</a:t>
            </a:r>
          </a:p>
          <a:p>
            <a:pPr algn="l" marL="755672" indent="-377836" lvl="1">
              <a:lnSpc>
                <a:spcPts val="4900"/>
              </a:lnSpc>
              <a:buAutoNum type="arabicPeriod" startAt="1"/>
            </a:pPr>
            <a:r>
              <a:rPr lang="en-US" sz="3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CLASSIFICATION BY PRICE</a:t>
            </a:r>
          </a:p>
          <a:p>
            <a:pPr algn="l" marL="755672" indent="-377836" lvl="1">
              <a:lnSpc>
                <a:spcPts val="4900"/>
              </a:lnSpc>
              <a:buAutoNum type="arabicPeriod" startAt="1"/>
            </a:pPr>
            <a:r>
              <a:rPr lang="en-US" sz="3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CLASSIFICATION BY RATING</a:t>
            </a:r>
          </a:p>
          <a:p>
            <a:pPr algn="l" marL="755672" indent="-377836" lvl="1">
              <a:lnSpc>
                <a:spcPts val="4900"/>
              </a:lnSpc>
              <a:buAutoNum type="arabicPeriod" startAt="1"/>
            </a:pPr>
            <a:r>
              <a:rPr lang="en-US" sz="3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CONCLUSIONS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28700" y="1064517"/>
            <a:ext cx="1057371" cy="1113681"/>
          </a:xfrm>
          <a:custGeom>
            <a:avLst/>
            <a:gdLst/>
            <a:ahLst/>
            <a:cxnLst/>
            <a:rect r="r" b="b" t="t" l="l"/>
            <a:pathLst>
              <a:path h="1113681" w="1057371">
                <a:moveTo>
                  <a:pt x="0" y="0"/>
                </a:moveTo>
                <a:lnTo>
                  <a:pt x="1057371" y="0"/>
                </a:lnTo>
                <a:lnTo>
                  <a:pt x="1057371" y="1113681"/>
                </a:lnTo>
                <a:lnTo>
                  <a:pt x="0" y="11136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7395" t="-14434" r="-35019" b="-49263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928695" y="1028700"/>
            <a:ext cx="1149498" cy="1149498"/>
          </a:xfrm>
          <a:custGeom>
            <a:avLst/>
            <a:gdLst/>
            <a:ahLst/>
            <a:cxnLst/>
            <a:rect r="r" b="b" t="t" l="l"/>
            <a:pathLst>
              <a:path h="1149498" w="1149498">
                <a:moveTo>
                  <a:pt x="0" y="0"/>
                </a:moveTo>
                <a:lnTo>
                  <a:pt x="1149498" y="0"/>
                </a:lnTo>
                <a:lnTo>
                  <a:pt x="1149498" y="1149498"/>
                </a:lnTo>
                <a:lnTo>
                  <a:pt x="0" y="11494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534" t="-2551" r="-20107" b="-73923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95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09807" y="-309859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49053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68668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3879" y="478305"/>
            <a:ext cx="17340241" cy="9330648"/>
            <a:chOff x="0" y="0"/>
            <a:chExt cx="4970565" cy="26746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70565" cy="2674622"/>
            </a:xfrm>
            <a:custGeom>
              <a:avLst/>
              <a:gdLst/>
              <a:ahLst/>
              <a:cxnLst/>
              <a:rect r="r" b="b" t="t" l="l"/>
              <a:pathLst>
                <a:path h="2674622" w="4970565">
                  <a:moveTo>
                    <a:pt x="22324" y="0"/>
                  </a:moveTo>
                  <a:lnTo>
                    <a:pt x="4948242" y="0"/>
                  </a:lnTo>
                  <a:cubicBezTo>
                    <a:pt x="4960570" y="0"/>
                    <a:pt x="4970565" y="9995"/>
                    <a:pt x="4970565" y="22324"/>
                  </a:cubicBezTo>
                  <a:lnTo>
                    <a:pt x="4970565" y="2652299"/>
                  </a:lnTo>
                  <a:cubicBezTo>
                    <a:pt x="4970565" y="2664628"/>
                    <a:pt x="4960570" y="2674622"/>
                    <a:pt x="4948242" y="2674622"/>
                  </a:cubicBezTo>
                  <a:lnTo>
                    <a:pt x="22324" y="2674622"/>
                  </a:lnTo>
                  <a:cubicBezTo>
                    <a:pt x="9995" y="2674622"/>
                    <a:pt x="0" y="2664628"/>
                    <a:pt x="0" y="2652299"/>
                  </a:cubicBezTo>
                  <a:lnTo>
                    <a:pt x="0" y="22324"/>
                  </a:lnTo>
                  <a:cubicBezTo>
                    <a:pt x="0" y="9995"/>
                    <a:pt x="9995" y="0"/>
                    <a:pt x="223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70565" cy="2722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2401678"/>
            <a:ext cx="16230600" cy="704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Smartphone Specifications Dataset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by CodewithDev from Kaggle.com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Format:</a:t>
            </a:r>
            <a:r>
              <a:rPr lang="en-US"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Comma Separated Values (.csv)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Total Records:</a:t>
            </a:r>
            <a:r>
              <a:rPr lang="en-US"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968 smartphones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Total Features:</a:t>
            </a:r>
            <a:r>
              <a:rPr lang="en-US"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27 technical and market attributes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Data Health: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Price &amp; Rating:</a:t>
            </a:r>
            <a:r>
              <a:rPr lang="en-US"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100% complete.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Hardware (RAM/Storage): </a:t>
            </a:r>
            <a:r>
              <a:rPr lang="en-US"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100% complete.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Batt</a:t>
            </a:r>
            <a:r>
              <a:rPr lang="en-US" sz="32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ery/Screen:</a:t>
            </a:r>
            <a:r>
              <a:rPr lang="en-US"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99% complete.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Missing Values:</a:t>
            </a:r>
            <a:r>
              <a:rPr lang="en-US"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Sparse data in fast_charge_w (20%), refresh_rate_hz (37%), and memory_card_max_gb (48%) usually indicates the absence of that feature in specific models (e.g., no fast charging or no SD card slot).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10982" y="904875"/>
            <a:ext cx="13666036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DATASET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00015" y="478305"/>
            <a:ext cx="1057371" cy="1113681"/>
          </a:xfrm>
          <a:custGeom>
            <a:avLst/>
            <a:gdLst/>
            <a:ahLst/>
            <a:cxnLst/>
            <a:rect r="r" b="b" t="t" l="l"/>
            <a:pathLst>
              <a:path h="1113681" w="1057371">
                <a:moveTo>
                  <a:pt x="0" y="0"/>
                </a:moveTo>
                <a:lnTo>
                  <a:pt x="1057370" y="0"/>
                </a:lnTo>
                <a:lnTo>
                  <a:pt x="1057370" y="1113681"/>
                </a:lnTo>
                <a:lnTo>
                  <a:pt x="0" y="11136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395" t="-14434" r="-35019" b="-49263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664623" y="478305"/>
            <a:ext cx="1149498" cy="1149498"/>
          </a:xfrm>
          <a:custGeom>
            <a:avLst/>
            <a:gdLst/>
            <a:ahLst/>
            <a:cxnLst/>
            <a:rect r="r" b="b" t="t" l="l"/>
            <a:pathLst>
              <a:path h="1149498" w="1149498">
                <a:moveTo>
                  <a:pt x="0" y="0"/>
                </a:moveTo>
                <a:lnTo>
                  <a:pt x="1149498" y="0"/>
                </a:lnTo>
                <a:lnTo>
                  <a:pt x="1149498" y="1149498"/>
                </a:lnTo>
                <a:lnTo>
                  <a:pt x="0" y="11494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534" t="-2551" r="-20107" b="-73923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95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09807" y="-309859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49053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68668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3879" y="478305"/>
            <a:ext cx="17340241" cy="9330648"/>
            <a:chOff x="0" y="0"/>
            <a:chExt cx="4970565" cy="26746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70565" cy="2674622"/>
            </a:xfrm>
            <a:custGeom>
              <a:avLst/>
              <a:gdLst/>
              <a:ahLst/>
              <a:cxnLst/>
              <a:rect r="r" b="b" t="t" l="l"/>
              <a:pathLst>
                <a:path h="2674622" w="4970565">
                  <a:moveTo>
                    <a:pt x="22324" y="0"/>
                  </a:moveTo>
                  <a:lnTo>
                    <a:pt x="4948242" y="0"/>
                  </a:lnTo>
                  <a:cubicBezTo>
                    <a:pt x="4960570" y="0"/>
                    <a:pt x="4970565" y="9995"/>
                    <a:pt x="4970565" y="22324"/>
                  </a:cubicBezTo>
                  <a:lnTo>
                    <a:pt x="4970565" y="2652299"/>
                  </a:lnTo>
                  <a:cubicBezTo>
                    <a:pt x="4970565" y="2664628"/>
                    <a:pt x="4960570" y="2674622"/>
                    <a:pt x="4948242" y="2674622"/>
                  </a:cubicBezTo>
                  <a:lnTo>
                    <a:pt x="22324" y="2674622"/>
                  </a:lnTo>
                  <a:cubicBezTo>
                    <a:pt x="9995" y="2674622"/>
                    <a:pt x="0" y="2664628"/>
                    <a:pt x="0" y="2652299"/>
                  </a:cubicBezTo>
                  <a:lnTo>
                    <a:pt x="0" y="22324"/>
                  </a:lnTo>
                  <a:cubicBezTo>
                    <a:pt x="0" y="9995"/>
                    <a:pt x="9995" y="0"/>
                    <a:pt x="223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70565" cy="2722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66910" y="4267602"/>
            <a:ext cx="6919912" cy="352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1662" indent="-310831" lvl="1">
              <a:lnSpc>
                <a:spcPts val="4031"/>
              </a:lnSpc>
              <a:buFont typeface="Arial"/>
              <a:buChar char="•"/>
            </a:pPr>
            <a:r>
              <a:rPr lang="en-US" b="true" sz="287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Dropped high-missingness columns</a:t>
            </a:r>
          </a:p>
          <a:p>
            <a:pPr algn="l" marL="621662" indent="-310831" lvl="1">
              <a:lnSpc>
                <a:spcPts val="4031"/>
              </a:lnSpc>
              <a:buFont typeface="Arial"/>
              <a:buChar char="•"/>
            </a:pPr>
            <a:r>
              <a:rPr lang="en-US" b="true" sz="287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Core type normalization</a:t>
            </a:r>
          </a:p>
          <a:p>
            <a:pPr algn="l" marL="621662" indent="-310831" lvl="1">
              <a:lnSpc>
                <a:spcPts val="4031"/>
              </a:lnSpc>
              <a:buFont typeface="Arial"/>
              <a:buChar char="•"/>
            </a:pPr>
            <a:r>
              <a:rPr lang="en-US" b="true" sz="287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Resolution parsing</a:t>
            </a:r>
          </a:p>
          <a:p>
            <a:pPr algn="l" marL="621662" indent="-310831" lvl="1">
              <a:lnSpc>
                <a:spcPts val="4031"/>
              </a:lnSpc>
              <a:buFont typeface="Arial"/>
              <a:buChar char="•"/>
            </a:pPr>
            <a:r>
              <a:rPr lang="en-US" b="true" sz="287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Camera MP aggregation</a:t>
            </a:r>
          </a:p>
          <a:p>
            <a:pPr algn="l" marL="621662" indent="-310831" lvl="1">
              <a:lnSpc>
                <a:spcPts val="4031"/>
              </a:lnSpc>
              <a:buFont typeface="Arial"/>
              <a:buChar char="•"/>
            </a:pPr>
            <a:r>
              <a:rPr lang="en-US" b="true" sz="287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Missing value imputation</a:t>
            </a:r>
          </a:p>
          <a:p>
            <a:pPr algn="l" marL="621662" indent="-310831" lvl="1">
              <a:lnSpc>
                <a:spcPts val="4031"/>
              </a:lnSpc>
              <a:buFont typeface="Arial"/>
              <a:buChar char="•"/>
            </a:pPr>
            <a:r>
              <a:rPr lang="en-US" b="true" sz="287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Outlier removal</a:t>
            </a:r>
          </a:p>
          <a:p>
            <a:pPr algn="l" marL="621662" indent="-310831" lvl="1">
              <a:lnSpc>
                <a:spcPts val="4031"/>
              </a:lnSpc>
              <a:buFont typeface="Arial"/>
              <a:buChar char="•"/>
            </a:pPr>
            <a:r>
              <a:rPr lang="en-US" b="true" sz="287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Encoding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01660" y="885825"/>
            <a:ext cx="3065145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DATA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09540" y="486519"/>
            <a:ext cx="1057371" cy="1113681"/>
          </a:xfrm>
          <a:custGeom>
            <a:avLst/>
            <a:gdLst/>
            <a:ahLst/>
            <a:cxnLst/>
            <a:rect r="r" b="b" t="t" l="l"/>
            <a:pathLst>
              <a:path h="1113681" w="1057371">
                <a:moveTo>
                  <a:pt x="0" y="0"/>
                </a:moveTo>
                <a:lnTo>
                  <a:pt x="1057370" y="0"/>
                </a:lnTo>
                <a:lnTo>
                  <a:pt x="1057370" y="1113681"/>
                </a:lnTo>
                <a:lnTo>
                  <a:pt x="0" y="11136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395" t="-14434" r="-35019" b="-49263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664623" y="478305"/>
            <a:ext cx="1149498" cy="1149498"/>
          </a:xfrm>
          <a:custGeom>
            <a:avLst/>
            <a:gdLst/>
            <a:ahLst/>
            <a:cxnLst/>
            <a:rect r="r" b="b" t="t" l="l"/>
            <a:pathLst>
              <a:path h="1149498" w="1149498">
                <a:moveTo>
                  <a:pt x="0" y="0"/>
                </a:moveTo>
                <a:lnTo>
                  <a:pt x="1149498" y="0"/>
                </a:lnTo>
                <a:lnTo>
                  <a:pt x="1149498" y="1149498"/>
                </a:lnTo>
                <a:lnTo>
                  <a:pt x="0" y="11494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534" t="-2551" r="-20107" b="-73923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100749" y="2779165"/>
            <a:ext cx="3870960" cy="102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CLEANING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82422" y="2779165"/>
            <a:ext cx="6182201" cy="102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PREPROCESSING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13566" y="4267602"/>
            <a:ext cx="4146828" cy="1003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1662" indent="-310831" lvl="1">
              <a:lnSpc>
                <a:spcPts val="4031"/>
              </a:lnSpc>
              <a:buFont typeface="Arial"/>
              <a:buChar char="•"/>
            </a:pPr>
            <a:r>
              <a:rPr lang="en-US" b="true" sz="287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</a:t>
            </a:r>
            <a:r>
              <a:rPr lang="en-US" b="true" sz="287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tandard Scaling</a:t>
            </a:r>
          </a:p>
          <a:p>
            <a:pPr algn="l" marL="621662" indent="-310831" lvl="1">
              <a:lnSpc>
                <a:spcPts val="4031"/>
              </a:lnSpc>
              <a:buFont typeface="Arial"/>
              <a:buChar char="•"/>
            </a:pPr>
            <a:r>
              <a:rPr lang="en-US" b="true" sz="287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Log-Transformation</a:t>
            </a:r>
          </a:p>
        </p:txBody>
      </p:sp>
      <p:sp>
        <p:nvSpPr>
          <p:cNvPr name="AutoShape 15" id="15"/>
          <p:cNvSpPr/>
          <p:nvPr/>
        </p:nvSpPr>
        <p:spPr>
          <a:xfrm>
            <a:off x="9144000" y="2893465"/>
            <a:ext cx="0" cy="6813677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9572279" y="5994691"/>
            <a:ext cx="8002486" cy="3441069"/>
          </a:xfrm>
          <a:custGeom>
            <a:avLst/>
            <a:gdLst/>
            <a:ahLst/>
            <a:cxnLst/>
            <a:rect r="r" b="b" t="t" l="l"/>
            <a:pathLst>
              <a:path h="3441069" w="8002486">
                <a:moveTo>
                  <a:pt x="0" y="0"/>
                </a:moveTo>
                <a:lnTo>
                  <a:pt x="8002486" y="0"/>
                </a:lnTo>
                <a:lnTo>
                  <a:pt x="8002486" y="3441069"/>
                </a:lnTo>
                <a:lnTo>
                  <a:pt x="0" y="34410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95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09807" y="-309859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49053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68668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15294034" cy="8229600"/>
            <a:chOff x="0" y="0"/>
            <a:chExt cx="4970565" cy="26746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70565" cy="2674622"/>
            </a:xfrm>
            <a:custGeom>
              <a:avLst/>
              <a:gdLst/>
              <a:ahLst/>
              <a:cxnLst/>
              <a:rect r="r" b="b" t="t" l="l"/>
              <a:pathLst>
                <a:path h="2674622" w="4970565">
                  <a:moveTo>
                    <a:pt x="25310" y="0"/>
                  </a:moveTo>
                  <a:lnTo>
                    <a:pt x="4945255" y="0"/>
                  </a:lnTo>
                  <a:cubicBezTo>
                    <a:pt x="4951968" y="0"/>
                    <a:pt x="4958405" y="2667"/>
                    <a:pt x="4963152" y="7413"/>
                  </a:cubicBezTo>
                  <a:cubicBezTo>
                    <a:pt x="4967899" y="12160"/>
                    <a:pt x="4970565" y="18598"/>
                    <a:pt x="4970565" y="25310"/>
                  </a:cubicBezTo>
                  <a:lnTo>
                    <a:pt x="4970565" y="2649312"/>
                  </a:lnTo>
                  <a:cubicBezTo>
                    <a:pt x="4970565" y="2663291"/>
                    <a:pt x="4959233" y="2674622"/>
                    <a:pt x="4945255" y="2674622"/>
                  </a:cubicBezTo>
                  <a:lnTo>
                    <a:pt x="25310" y="2674622"/>
                  </a:lnTo>
                  <a:cubicBezTo>
                    <a:pt x="11332" y="2674622"/>
                    <a:pt x="0" y="2663291"/>
                    <a:pt x="0" y="2649312"/>
                  </a:cubicBezTo>
                  <a:lnTo>
                    <a:pt x="0" y="25310"/>
                  </a:lnTo>
                  <a:cubicBezTo>
                    <a:pt x="0" y="11332"/>
                    <a:pt x="11332" y="0"/>
                    <a:pt x="2531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70565" cy="2722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83735" y="3675932"/>
            <a:ext cx="11284933" cy="3988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54" indent="-474977" lvl="1">
              <a:lnSpc>
                <a:spcPts val="10999"/>
              </a:lnSpc>
              <a:buAutoNum type="arabicPeriod" startAt="1"/>
            </a:pPr>
            <a:r>
              <a:rPr lang="en-US" b="true" sz="43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Preprocessing Data</a:t>
            </a:r>
          </a:p>
          <a:p>
            <a:pPr algn="l" marL="949954" indent="-474977" lvl="1">
              <a:lnSpc>
                <a:spcPts val="10999"/>
              </a:lnSpc>
              <a:buAutoNum type="arabicPeriod" startAt="1"/>
            </a:pPr>
            <a:r>
              <a:rPr lang="en-US" b="true" sz="43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Regression</a:t>
            </a:r>
          </a:p>
          <a:p>
            <a:pPr algn="l" marL="949954" indent="-474977" lvl="1">
              <a:lnSpc>
                <a:spcPts val="10999"/>
              </a:lnSpc>
              <a:buAutoNum type="arabicPeriod" startAt="1"/>
            </a:pPr>
            <a:r>
              <a:rPr lang="en-US" b="true" sz="43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Classification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35389" y="1668354"/>
            <a:ext cx="8181777" cy="138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39"/>
              </a:lnSpc>
            </a:pPr>
            <a:r>
              <a:rPr lang="en-US" sz="80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METHODOLOGY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2838022" y="4244880"/>
            <a:ext cx="4421278" cy="5855998"/>
          </a:xfrm>
          <a:custGeom>
            <a:avLst/>
            <a:gdLst/>
            <a:ahLst/>
            <a:cxnLst/>
            <a:rect r="r" b="b" t="t" l="l"/>
            <a:pathLst>
              <a:path h="5855998" w="4421278">
                <a:moveTo>
                  <a:pt x="4421278" y="0"/>
                </a:moveTo>
                <a:lnTo>
                  <a:pt x="0" y="0"/>
                </a:lnTo>
                <a:lnTo>
                  <a:pt x="0" y="5855998"/>
                </a:lnTo>
                <a:lnTo>
                  <a:pt x="4421278" y="5855998"/>
                </a:lnTo>
                <a:lnTo>
                  <a:pt x="44212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1064517"/>
            <a:ext cx="1057371" cy="1113681"/>
          </a:xfrm>
          <a:custGeom>
            <a:avLst/>
            <a:gdLst/>
            <a:ahLst/>
            <a:cxnLst/>
            <a:rect r="r" b="b" t="t" l="l"/>
            <a:pathLst>
              <a:path h="1113681" w="1057371">
                <a:moveTo>
                  <a:pt x="0" y="0"/>
                </a:moveTo>
                <a:lnTo>
                  <a:pt x="1057371" y="0"/>
                </a:lnTo>
                <a:lnTo>
                  <a:pt x="1057371" y="1113681"/>
                </a:lnTo>
                <a:lnTo>
                  <a:pt x="0" y="11136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7395" t="-14434" r="-35019" b="-49263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173236" y="1064517"/>
            <a:ext cx="1149498" cy="1149498"/>
          </a:xfrm>
          <a:custGeom>
            <a:avLst/>
            <a:gdLst/>
            <a:ahLst/>
            <a:cxnLst/>
            <a:rect r="r" b="b" t="t" l="l"/>
            <a:pathLst>
              <a:path h="1149498" w="1149498">
                <a:moveTo>
                  <a:pt x="0" y="0"/>
                </a:moveTo>
                <a:lnTo>
                  <a:pt x="1149498" y="0"/>
                </a:lnTo>
                <a:lnTo>
                  <a:pt x="1149498" y="1149498"/>
                </a:lnTo>
                <a:lnTo>
                  <a:pt x="0" y="11494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534" t="-2551" r="-20107" b="-73923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95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09807" y="-309859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49053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68668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3879" y="478305"/>
            <a:ext cx="17340241" cy="9330648"/>
            <a:chOff x="0" y="0"/>
            <a:chExt cx="4970565" cy="26746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70565" cy="2674622"/>
            </a:xfrm>
            <a:custGeom>
              <a:avLst/>
              <a:gdLst/>
              <a:ahLst/>
              <a:cxnLst/>
              <a:rect r="r" b="b" t="t" l="l"/>
              <a:pathLst>
                <a:path h="2674622" w="4970565">
                  <a:moveTo>
                    <a:pt x="22324" y="0"/>
                  </a:moveTo>
                  <a:lnTo>
                    <a:pt x="4948242" y="0"/>
                  </a:lnTo>
                  <a:cubicBezTo>
                    <a:pt x="4960570" y="0"/>
                    <a:pt x="4970565" y="9995"/>
                    <a:pt x="4970565" y="22324"/>
                  </a:cubicBezTo>
                  <a:lnTo>
                    <a:pt x="4970565" y="2652299"/>
                  </a:lnTo>
                  <a:cubicBezTo>
                    <a:pt x="4970565" y="2664628"/>
                    <a:pt x="4960570" y="2674622"/>
                    <a:pt x="4948242" y="2674622"/>
                  </a:cubicBezTo>
                  <a:lnTo>
                    <a:pt x="22324" y="2674622"/>
                  </a:lnTo>
                  <a:cubicBezTo>
                    <a:pt x="9995" y="2674622"/>
                    <a:pt x="0" y="2664628"/>
                    <a:pt x="0" y="2652299"/>
                  </a:cubicBezTo>
                  <a:lnTo>
                    <a:pt x="0" y="22324"/>
                  </a:lnTo>
                  <a:cubicBezTo>
                    <a:pt x="0" y="9995"/>
                    <a:pt x="9995" y="0"/>
                    <a:pt x="223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70565" cy="2722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205537" y="885825"/>
            <a:ext cx="5876925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REGRESSION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5140" y="2518598"/>
            <a:ext cx="9690735" cy="63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10295"/>
              </a:lnSpc>
              <a:buAutoNum type="arabicPeriod" startAt="1"/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Multiple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Linear Regression</a:t>
            </a:r>
          </a:p>
          <a:p>
            <a:pPr algn="l" marL="1122679" indent="-561340" lvl="1">
              <a:lnSpc>
                <a:spcPts val="10295"/>
              </a:lnSpc>
              <a:buAutoNum type="arabicPeriod" startAt="1"/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Ridge regression</a:t>
            </a:r>
          </a:p>
          <a:p>
            <a:pPr algn="l" marL="1122679" indent="-561340" lvl="1">
              <a:lnSpc>
                <a:spcPts val="10295"/>
              </a:lnSpc>
              <a:buAutoNum type="arabicPeriod" startAt="1"/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Polynomial regression</a:t>
            </a:r>
          </a:p>
          <a:p>
            <a:pPr algn="l" marL="1122679" indent="-561340" lvl="1">
              <a:lnSpc>
                <a:spcPts val="10295"/>
              </a:lnSpc>
              <a:buAutoNum type="arabicPeriod" startAt="1"/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Poly-Ridge regression</a:t>
            </a:r>
          </a:p>
          <a:p>
            <a:pPr algn="l" marL="1122679" indent="-561340" lvl="1">
              <a:lnSpc>
                <a:spcPts val="10295"/>
              </a:lnSpc>
              <a:buAutoNum type="arabicPeriod" startAt="1"/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Random Forest Regression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308231" y="4052668"/>
            <a:ext cx="5694673" cy="7407705"/>
          </a:xfrm>
          <a:custGeom>
            <a:avLst/>
            <a:gdLst/>
            <a:ahLst/>
            <a:cxnLst/>
            <a:rect r="r" b="b" t="t" l="l"/>
            <a:pathLst>
              <a:path h="7407705" w="5694673">
                <a:moveTo>
                  <a:pt x="0" y="0"/>
                </a:moveTo>
                <a:lnTo>
                  <a:pt x="5694673" y="0"/>
                </a:lnTo>
                <a:lnTo>
                  <a:pt x="5694673" y="7407705"/>
                </a:lnTo>
                <a:lnTo>
                  <a:pt x="0" y="74077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0015" y="486519"/>
            <a:ext cx="1057371" cy="1113681"/>
          </a:xfrm>
          <a:custGeom>
            <a:avLst/>
            <a:gdLst/>
            <a:ahLst/>
            <a:cxnLst/>
            <a:rect r="r" b="b" t="t" l="l"/>
            <a:pathLst>
              <a:path h="1113681" w="1057371">
                <a:moveTo>
                  <a:pt x="0" y="0"/>
                </a:moveTo>
                <a:lnTo>
                  <a:pt x="1057370" y="0"/>
                </a:lnTo>
                <a:lnTo>
                  <a:pt x="1057370" y="1113681"/>
                </a:lnTo>
                <a:lnTo>
                  <a:pt x="0" y="11136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7395" t="-14434" r="-35019" b="-49263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664623" y="478305"/>
            <a:ext cx="1149498" cy="1149498"/>
          </a:xfrm>
          <a:custGeom>
            <a:avLst/>
            <a:gdLst/>
            <a:ahLst/>
            <a:cxnLst/>
            <a:rect r="r" b="b" t="t" l="l"/>
            <a:pathLst>
              <a:path h="1149498" w="1149498">
                <a:moveTo>
                  <a:pt x="0" y="0"/>
                </a:moveTo>
                <a:lnTo>
                  <a:pt x="1149498" y="0"/>
                </a:lnTo>
                <a:lnTo>
                  <a:pt x="1149498" y="1149498"/>
                </a:lnTo>
                <a:lnTo>
                  <a:pt x="0" y="11494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534" t="-2551" r="-20107" b="-73923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95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09807" y="-309859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49053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68668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00015" y="486519"/>
            <a:ext cx="17314106" cy="9322434"/>
            <a:chOff x="0" y="0"/>
            <a:chExt cx="4963074" cy="26722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63073" cy="2672268"/>
            </a:xfrm>
            <a:custGeom>
              <a:avLst/>
              <a:gdLst/>
              <a:ahLst/>
              <a:cxnLst/>
              <a:rect r="r" b="b" t="t" l="l"/>
              <a:pathLst>
                <a:path h="2672268" w="4963073">
                  <a:moveTo>
                    <a:pt x="22357" y="0"/>
                  </a:moveTo>
                  <a:lnTo>
                    <a:pt x="4940716" y="0"/>
                  </a:lnTo>
                  <a:cubicBezTo>
                    <a:pt x="4953064" y="0"/>
                    <a:pt x="4963073" y="10010"/>
                    <a:pt x="4963073" y="22357"/>
                  </a:cubicBezTo>
                  <a:lnTo>
                    <a:pt x="4963073" y="2649911"/>
                  </a:lnTo>
                  <a:cubicBezTo>
                    <a:pt x="4963073" y="2655840"/>
                    <a:pt x="4960718" y="2661527"/>
                    <a:pt x="4956525" y="2665719"/>
                  </a:cubicBezTo>
                  <a:cubicBezTo>
                    <a:pt x="4952332" y="2669912"/>
                    <a:pt x="4946646" y="2672268"/>
                    <a:pt x="4940716" y="2672268"/>
                  </a:cubicBezTo>
                  <a:lnTo>
                    <a:pt x="22357" y="2672268"/>
                  </a:lnTo>
                  <a:cubicBezTo>
                    <a:pt x="16428" y="2672268"/>
                    <a:pt x="10741" y="2669912"/>
                    <a:pt x="6548" y="2665719"/>
                  </a:cubicBezTo>
                  <a:cubicBezTo>
                    <a:pt x="2355" y="2661527"/>
                    <a:pt x="0" y="2655840"/>
                    <a:pt x="0" y="2649911"/>
                  </a:cubicBezTo>
                  <a:lnTo>
                    <a:pt x="0" y="22357"/>
                  </a:lnTo>
                  <a:cubicBezTo>
                    <a:pt x="0" y="16428"/>
                    <a:pt x="2355" y="10741"/>
                    <a:pt x="6548" y="6548"/>
                  </a:cubicBezTo>
                  <a:cubicBezTo>
                    <a:pt x="10741" y="2355"/>
                    <a:pt x="16428" y="0"/>
                    <a:pt x="2235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63074" cy="27198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3598636"/>
            <a:ext cx="10017680" cy="154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4" indent="-302262" lvl="1">
              <a:lnSpc>
                <a:spcPts val="6496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Acts as the basic hardware-to-price baseline</a:t>
            </a:r>
          </a:p>
          <a:p>
            <a:pPr algn="l" marL="604524" indent="-302262" lvl="1">
              <a:lnSpc>
                <a:spcPts val="6496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Struggles with complex, non-linear market pricing tiers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56422" y="885825"/>
            <a:ext cx="14575156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MULTIPLE LINEAR REGRESSION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5140" y="6026792"/>
            <a:ext cx="16230600" cy="1481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5-Fold Cross Validation Average Performance (Linear Regression): </a:t>
            </a:r>
          </a:p>
          <a:p>
            <a:pPr algn="l" marL="604524" indent="-302262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Average Train R²: 0.7807 </a:t>
            </a:r>
          </a:p>
          <a:p>
            <a:pPr algn="l" marL="604524" indent="-302262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Average Test R²: 0.6854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302046" y="5755669"/>
            <a:ext cx="4213694" cy="4250889"/>
          </a:xfrm>
          <a:custGeom>
            <a:avLst/>
            <a:gdLst/>
            <a:ahLst/>
            <a:cxnLst/>
            <a:rect r="r" b="b" t="t" l="l"/>
            <a:pathLst>
              <a:path h="4250889" w="4213694">
                <a:moveTo>
                  <a:pt x="0" y="0"/>
                </a:moveTo>
                <a:lnTo>
                  <a:pt x="4213694" y="0"/>
                </a:lnTo>
                <a:lnTo>
                  <a:pt x="4213694" y="4250889"/>
                </a:lnTo>
                <a:lnTo>
                  <a:pt x="0" y="4250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00015" y="486519"/>
            <a:ext cx="1057371" cy="1113681"/>
          </a:xfrm>
          <a:custGeom>
            <a:avLst/>
            <a:gdLst/>
            <a:ahLst/>
            <a:cxnLst/>
            <a:rect r="r" b="b" t="t" l="l"/>
            <a:pathLst>
              <a:path h="1113681" w="1057371">
                <a:moveTo>
                  <a:pt x="0" y="0"/>
                </a:moveTo>
                <a:lnTo>
                  <a:pt x="1057370" y="0"/>
                </a:lnTo>
                <a:lnTo>
                  <a:pt x="1057370" y="1113681"/>
                </a:lnTo>
                <a:lnTo>
                  <a:pt x="0" y="11136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7395" t="-14434" r="-35019" b="-49263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664623" y="478305"/>
            <a:ext cx="1149498" cy="1149498"/>
          </a:xfrm>
          <a:custGeom>
            <a:avLst/>
            <a:gdLst/>
            <a:ahLst/>
            <a:cxnLst/>
            <a:rect r="r" b="b" t="t" l="l"/>
            <a:pathLst>
              <a:path h="1149498" w="1149498">
                <a:moveTo>
                  <a:pt x="0" y="0"/>
                </a:moveTo>
                <a:lnTo>
                  <a:pt x="1149498" y="0"/>
                </a:lnTo>
                <a:lnTo>
                  <a:pt x="1149498" y="1149498"/>
                </a:lnTo>
                <a:lnTo>
                  <a:pt x="0" y="11494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534" t="-2551" r="-20107" b="-73923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95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09807" y="-309859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49053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68668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3879" y="478305"/>
            <a:ext cx="17340241" cy="9330648"/>
            <a:chOff x="0" y="0"/>
            <a:chExt cx="4970565" cy="26746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70565" cy="2674622"/>
            </a:xfrm>
            <a:custGeom>
              <a:avLst/>
              <a:gdLst/>
              <a:ahLst/>
              <a:cxnLst/>
              <a:rect r="r" b="b" t="t" l="l"/>
              <a:pathLst>
                <a:path h="2674622" w="4970565">
                  <a:moveTo>
                    <a:pt x="22324" y="0"/>
                  </a:moveTo>
                  <a:lnTo>
                    <a:pt x="4948242" y="0"/>
                  </a:lnTo>
                  <a:cubicBezTo>
                    <a:pt x="4960570" y="0"/>
                    <a:pt x="4970565" y="9995"/>
                    <a:pt x="4970565" y="22324"/>
                  </a:cubicBezTo>
                  <a:lnTo>
                    <a:pt x="4970565" y="2652299"/>
                  </a:lnTo>
                  <a:cubicBezTo>
                    <a:pt x="4970565" y="2664628"/>
                    <a:pt x="4960570" y="2674622"/>
                    <a:pt x="4948242" y="2674622"/>
                  </a:cubicBezTo>
                  <a:lnTo>
                    <a:pt x="22324" y="2674622"/>
                  </a:lnTo>
                  <a:cubicBezTo>
                    <a:pt x="9995" y="2674622"/>
                    <a:pt x="0" y="2664628"/>
                    <a:pt x="0" y="2652299"/>
                  </a:cubicBezTo>
                  <a:lnTo>
                    <a:pt x="0" y="22324"/>
                  </a:lnTo>
                  <a:cubicBezTo>
                    <a:pt x="0" y="9995"/>
                    <a:pt x="9995" y="0"/>
                    <a:pt x="223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70565" cy="2722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3598636"/>
            <a:ext cx="10832306" cy="154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4" indent="-302262" lvl="1">
              <a:lnSpc>
                <a:spcPts val="6496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Prevents coefficient explosion caused by overlapping specs</a:t>
            </a:r>
          </a:p>
          <a:p>
            <a:pPr algn="l" marL="604524" indent="-302262" lvl="1">
              <a:lnSpc>
                <a:spcPts val="6496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Offers slightly better stability than the baseline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82966" y="885825"/>
            <a:ext cx="892206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RIDGE REGRESSION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5140" y="6026792"/>
            <a:ext cx="6199108" cy="1481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WINNING ALPHA: 0.1</a:t>
            </a:r>
          </a:p>
          <a:p>
            <a:pPr algn="l" marL="604524" indent="-302262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Train R² (Winning Model): 0.7793 </a:t>
            </a:r>
          </a:p>
          <a:p>
            <a:pPr algn="l" marL="604524" indent="-302262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Test R² (Winning Model): 0.7008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068668" y="3285982"/>
            <a:ext cx="4734439" cy="7001018"/>
          </a:xfrm>
          <a:custGeom>
            <a:avLst/>
            <a:gdLst/>
            <a:ahLst/>
            <a:cxnLst/>
            <a:rect r="r" b="b" t="t" l="l"/>
            <a:pathLst>
              <a:path h="7001018" w="4734439">
                <a:moveTo>
                  <a:pt x="0" y="0"/>
                </a:moveTo>
                <a:lnTo>
                  <a:pt x="4734438" y="0"/>
                </a:lnTo>
                <a:lnTo>
                  <a:pt x="4734438" y="7001018"/>
                </a:lnTo>
                <a:lnTo>
                  <a:pt x="0" y="70010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00015" y="486519"/>
            <a:ext cx="1057371" cy="1113681"/>
          </a:xfrm>
          <a:custGeom>
            <a:avLst/>
            <a:gdLst/>
            <a:ahLst/>
            <a:cxnLst/>
            <a:rect r="r" b="b" t="t" l="l"/>
            <a:pathLst>
              <a:path h="1113681" w="1057371">
                <a:moveTo>
                  <a:pt x="0" y="0"/>
                </a:moveTo>
                <a:lnTo>
                  <a:pt x="1057370" y="0"/>
                </a:lnTo>
                <a:lnTo>
                  <a:pt x="1057370" y="1113681"/>
                </a:lnTo>
                <a:lnTo>
                  <a:pt x="0" y="11136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7395" t="-14434" r="-35019" b="-49263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664623" y="478305"/>
            <a:ext cx="1149498" cy="1149498"/>
          </a:xfrm>
          <a:custGeom>
            <a:avLst/>
            <a:gdLst/>
            <a:ahLst/>
            <a:cxnLst/>
            <a:rect r="r" b="b" t="t" l="l"/>
            <a:pathLst>
              <a:path h="1149498" w="1149498">
                <a:moveTo>
                  <a:pt x="0" y="0"/>
                </a:moveTo>
                <a:lnTo>
                  <a:pt x="1149498" y="0"/>
                </a:lnTo>
                <a:lnTo>
                  <a:pt x="1149498" y="1149498"/>
                </a:lnTo>
                <a:lnTo>
                  <a:pt x="0" y="11494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534" t="-2551" r="-20107" b="-73923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95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09807" y="-309859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49053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68668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3879" y="478305"/>
            <a:ext cx="17340241" cy="9330648"/>
            <a:chOff x="0" y="0"/>
            <a:chExt cx="4970565" cy="26746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70565" cy="2674622"/>
            </a:xfrm>
            <a:custGeom>
              <a:avLst/>
              <a:gdLst/>
              <a:ahLst/>
              <a:cxnLst/>
              <a:rect r="r" b="b" t="t" l="l"/>
              <a:pathLst>
                <a:path h="2674622" w="4970565">
                  <a:moveTo>
                    <a:pt x="22324" y="0"/>
                  </a:moveTo>
                  <a:lnTo>
                    <a:pt x="4948242" y="0"/>
                  </a:lnTo>
                  <a:cubicBezTo>
                    <a:pt x="4960570" y="0"/>
                    <a:pt x="4970565" y="9995"/>
                    <a:pt x="4970565" y="22324"/>
                  </a:cubicBezTo>
                  <a:lnTo>
                    <a:pt x="4970565" y="2652299"/>
                  </a:lnTo>
                  <a:cubicBezTo>
                    <a:pt x="4970565" y="2664628"/>
                    <a:pt x="4960570" y="2674622"/>
                    <a:pt x="4948242" y="2674622"/>
                  </a:cubicBezTo>
                  <a:lnTo>
                    <a:pt x="22324" y="2674622"/>
                  </a:lnTo>
                  <a:cubicBezTo>
                    <a:pt x="9995" y="2674622"/>
                    <a:pt x="0" y="2664628"/>
                    <a:pt x="0" y="2652299"/>
                  </a:cubicBezTo>
                  <a:lnTo>
                    <a:pt x="0" y="22324"/>
                  </a:lnTo>
                  <a:cubicBezTo>
                    <a:pt x="0" y="9995"/>
                    <a:pt x="9995" y="0"/>
                    <a:pt x="223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70565" cy="2722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3111767"/>
            <a:ext cx="14708109" cy="236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4" indent="-302262" lvl="1">
              <a:lnSpc>
                <a:spcPts val="6496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Attempted to map the non-linear, exponential pricing curves of premium phones</a:t>
            </a:r>
          </a:p>
          <a:p>
            <a:pPr algn="l" marL="604524" indent="-302262" lvl="1">
              <a:lnSpc>
                <a:spcPts val="6496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Huge overfitting. The model learned the training data perfectly but failed completely on new data due to extreme coefficient explosion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16078" y="885825"/>
            <a:ext cx="12455843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POLYNOMIAL REGRESSION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5140" y="5832044"/>
            <a:ext cx="16230600" cy="1481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POLYNOMIAL DEGREE 1 : </a:t>
            </a:r>
          </a:p>
          <a:p>
            <a:pPr algn="l" marL="604524" indent="-302262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Train R² : 0.7807</a:t>
            </a:r>
          </a:p>
          <a:p>
            <a:pPr algn="l" marL="604524" indent="-302262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Test R² : 0.6854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140" y="7464525"/>
            <a:ext cx="16230600" cy="1481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POLYNOMIAL DEGREE 2 : </a:t>
            </a:r>
          </a:p>
          <a:p>
            <a:pPr algn="l" marL="604524" indent="-302262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Train R² : 0.9446 </a:t>
            </a:r>
          </a:p>
          <a:p>
            <a:pPr algn="l" marL="604524" indent="-302262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Test R² : -4629414.2015</a:t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0">
            <a:off x="13583486" y="5143629"/>
            <a:ext cx="4230635" cy="5143629"/>
          </a:xfrm>
          <a:custGeom>
            <a:avLst/>
            <a:gdLst/>
            <a:ahLst/>
            <a:cxnLst/>
            <a:rect r="r" b="b" t="t" l="l"/>
            <a:pathLst>
              <a:path h="5143629" w="4230635">
                <a:moveTo>
                  <a:pt x="4230635" y="0"/>
                </a:moveTo>
                <a:lnTo>
                  <a:pt x="0" y="0"/>
                </a:lnTo>
                <a:lnTo>
                  <a:pt x="0" y="5143629"/>
                </a:lnTo>
                <a:lnTo>
                  <a:pt x="4230635" y="5143629"/>
                </a:lnTo>
                <a:lnTo>
                  <a:pt x="423063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00015" y="486519"/>
            <a:ext cx="1057371" cy="1113681"/>
          </a:xfrm>
          <a:custGeom>
            <a:avLst/>
            <a:gdLst/>
            <a:ahLst/>
            <a:cxnLst/>
            <a:rect r="r" b="b" t="t" l="l"/>
            <a:pathLst>
              <a:path h="1113681" w="1057371">
                <a:moveTo>
                  <a:pt x="0" y="0"/>
                </a:moveTo>
                <a:lnTo>
                  <a:pt x="1057370" y="0"/>
                </a:lnTo>
                <a:lnTo>
                  <a:pt x="1057370" y="1113681"/>
                </a:lnTo>
                <a:lnTo>
                  <a:pt x="0" y="11136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7395" t="-14434" r="-35019" b="-49263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664623" y="478305"/>
            <a:ext cx="1149498" cy="1149498"/>
          </a:xfrm>
          <a:custGeom>
            <a:avLst/>
            <a:gdLst/>
            <a:ahLst/>
            <a:cxnLst/>
            <a:rect r="r" b="b" t="t" l="l"/>
            <a:pathLst>
              <a:path h="1149498" w="1149498">
                <a:moveTo>
                  <a:pt x="0" y="0"/>
                </a:moveTo>
                <a:lnTo>
                  <a:pt x="1149498" y="0"/>
                </a:lnTo>
                <a:lnTo>
                  <a:pt x="1149498" y="1149498"/>
                </a:lnTo>
                <a:lnTo>
                  <a:pt x="0" y="11494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534" t="-2551" r="-20107" b="-73923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95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09807" y="-309859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49053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68668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3879" y="478305"/>
            <a:ext cx="17340241" cy="9330648"/>
            <a:chOff x="0" y="0"/>
            <a:chExt cx="4970565" cy="26746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70565" cy="2674622"/>
            </a:xfrm>
            <a:custGeom>
              <a:avLst/>
              <a:gdLst/>
              <a:ahLst/>
              <a:cxnLst/>
              <a:rect r="r" b="b" t="t" l="l"/>
              <a:pathLst>
                <a:path h="2674622" w="4970565">
                  <a:moveTo>
                    <a:pt x="22324" y="0"/>
                  </a:moveTo>
                  <a:lnTo>
                    <a:pt x="4948242" y="0"/>
                  </a:lnTo>
                  <a:cubicBezTo>
                    <a:pt x="4960570" y="0"/>
                    <a:pt x="4970565" y="9995"/>
                    <a:pt x="4970565" y="22324"/>
                  </a:cubicBezTo>
                  <a:lnTo>
                    <a:pt x="4970565" y="2652299"/>
                  </a:lnTo>
                  <a:cubicBezTo>
                    <a:pt x="4970565" y="2664628"/>
                    <a:pt x="4960570" y="2674622"/>
                    <a:pt x="4948242" y="2674622"/>
                  </a:cubicBezTo>
                  <a:lnTo>
                    <a:pt x="22324" y="2674622"/>
                  </a:lnTo>
                  <a:cubicBezTo>
                    <a:pt x="9995" y="2674622"/>
                    <a:pt x="0" y="2664628"/>
                    <a:pt x="0" y="2652299"/>
                  </a:cubicBezTo>
                  <a:lnTo>
                    <a:pt x="0" y="22324"/>
                  </a:lnTo>
                  <a:cubicBezTo>
                    <a:pt x="0" y="9995"/>
                    <a:pt x="9995" y="0"/>
                    <a:pt x="223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70565" cy="2722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56920" y="2798196"/>
            <a:ext cx="14564538" cy="236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4" indent="-302262" lvl="1">
              <a:lnSpc>
                <a:spcPts val="6496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Combined polynomial features with L2 regularization (Ridge)</a:t>
            </a:r>
          </a:p>
          <a:p>
            <a:pPr algn="l" marL="604524" indent="-302262" lvl="1">
              <a:lnSpc>
                <a:spcPts val="6496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Successfully stabilized the model. It balanced the complex, exponential price curves of higher-end phones without overfitting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00400" y="885825"/>
            <a:ext cx="1188720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POLY-RIDGE REGRESSION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5140" y="6026792"/>
            <a:ext cx="5390912" cy="247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WINNING POLY-RIDGE MODEL: </a:t>
            </a:r>
          </a:p>
          <a:p>
            <a:pPr algn="l" marL="604524" indent="-302262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Degree: 2 </a:t>
            </a:r>
          </a:p>
          <a:p>
            <a:pPr algn="l" marL="604524" indent="-302262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Alpha: 100</a:t>
            </a:r>
          </a:p>
          <a:p>
            <a:pPr algn="l" marL="604524" indent="-302262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Train R²: 0.8440 </a:t>
            </a:r>
          </a:p>
          <a:p>
            <a:pPr algn="l" marL="604524" indent="-302262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Test R²: 0.7059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320192" y="4281010"/>
            <a:ext cx="3776266" cy="6005990"/>
          </a:xfrm>
          <a:custGeom>
            <a:avLst/>
            <a:gdLst/>
            <a:ahLst/>
            <a:cxnLst/>
            <a:rect r="r" b="b" t="t" l="l"/>
            <a:pathLst>
              <a:path h="6005990" w="3776266">
                <a:moveTo>
                  <a:pt x="0" y="0"/>
                </a:moveTo>
                <a:lnTo>
                  <a:pt x="3776266" y="0"/>
                </a:lnTo>
                <a:lnTo>
                  <a:pt x="3776266" y="6005990"/>
                </a:lnTo>
                <a:lnTo>
                  <a:pt x="0" y="60059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00015" y="486519"/>
            <a:ext cx="1057371" cy="1113681"/>
          </a:xfrm>
          <a:custGeom>
            <a:avLst/>
            <a:gdLst/>
            <a:ahLst/>
            <a:cxnLst/>
            <a:rect r="r" b="b" t="t" l="l"/>
            <a:pathLst>
              <a:path h="1113681" w="1057371">
                <a:moveTo>
                  <a:pt x="0" y="0"/>
                </a:moveTo>
                <a:lnTo>
                  <a:pt x="1057370" y="0"/>
                </a:lnTo>
                <a:lnTo>
                  <a:pt x="1057370" y="1113681"/>
                </a:lnTo>
                <a:lnTo>
                  <a:pt x="0" y="11136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7395" t="-14434" r="-35019" b="-49263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664623" y="478305"/>
            <a:ext cx="1149498" cy="1149498"/>
          </a:xfrm>
          <a:custGeom>
            <a:avLst/>
            <a:gdLst/>
            <a:ahLst/>
            <a:cxnLst/>
            <a:rect r="r" b="b" t="t" l="l"/>
            <a:pathLst>
              <a:path h="1149498" w="1149498">
                <a:moveTo>
                  <a:pt x="0" y="0"/>
                </a:moveTo>
                <a:lnTo>
                  <a:pt x="1149498" y="0"/>
                </a:lnTo>
                <a:lnTo>
                  <a:pt x="1149498" y="1149498"/>
                </a:lnTo>
                <a:lnTo>
                  <a:pt x="0" y="11494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534" t="-2551" r="-20107" b="-73923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95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09807" y="-309859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49053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68668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3879" y="478305"/>
            <a:ext cx="17340241" cy="9330648"/>
            <a:chOff x="0" y="0"/>
            <a:chExt cx="4970565" cy="26746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70565" cy="2674622"/>
            </a:xfrm>
            <a:custGeom>
              <a:avLst/>
              <a:gdLst/>
              <a:ahLst/>
              <a:cxnLst/>
              <a:rect r="r" b="b" t="t" l="l"/>
              <a:pathLst>
                <a:path h="2674622" w="4970565">
                  <a:moveTo>
                    <a:pt x="22324" y="0"/>
                  </a:moveTo>
                  <a:lnTo>
                    <a:pt x="4948242" y="0"/>
                  </a:lnTo>
                  <a:cubicBezTo>
                    <a:pt x="4960570" y="0"/>
                    <a:pt x="4970565" y="9995"/>
                    <a:pt x="4970565" y="22324"/>
                  </a:cubicBezTo>
                  <a:lnTo>
                    <a:pt x="4970565" y="2652299"/>
                  </a:lnTo>
                  <a:cubicBezTo>
                    <a:pt x="4970565" y="2664628"/>
                    <a:pt x="4960570" y="2674622"/>
                    <a:pt x="4948242" y="2674622"/>
                  </a:cubicBezTo>
                  <a:lnTo>
                    <a:pt x="22324" y="2674622"/>
                  </a:lnTo>
                  <a:cubicBezTo>
                    <a:pt x="9995" y="2674622"/>
                    <a:pt x="0" y="2664628"/>
                    <a:pt x="0" y="2652299"/>
                  </a:cubicBezTo>
                  <a:lnTo>
                    <a:pt x="0" y="22324"/>
                  </a:lnTo>
                  <a:cubicBezTo>
                    <a:pt x="0" y="9995"/>
                    <a:pt x="9995" y="0"/>
                    <a:pt x="223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70565" cy="2722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56920" y="2798196"/>
            <a:ext cx="15195600" cy="236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4" indent="-302262" lvl="1">
              <a:lnSpc>
                <a:spcPts val="6496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The most accurate and reliable model tested</a:t>
            </a:r>
          </a:p>
          <a:p>
            <a:pPr algn="l" marL="604524" indent="-302262" lvl="1">
              <a:lnSpc>
                <a:spcPts val="6496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Tree-based logic perfectly matches the "stepped" nature of real-world price tiers</a:t>
            </a:r>
          </a:p>
          <a:p>
            <a:pPr algn="l" marL="604524" indent="-302262" lvl="1">
              <a:lnSpc>
                <a:spcPts val="6496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Highly resilient to market outliers and noisy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04356" y="904875"/>
            <a:ext cx="12879288" cy="114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80"/>
              </a:lnSpc>
            </a:pPr>
            <a:r>
              <a:rPr lang="en-US" sz="67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RANDOM FOREST REGRESSION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5140" y="6026792"/>
            <a:ext cx="8040171" cy="1481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Random Forest Regression Across 5 Folds Avg: </a:t>
            </a:r>
          </a:p>
          <a:p>
            <a:pPr algn="l" marL="604524" indent="-302262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Train R²: 0.9643 </a:t>
            </a:r>
          </a:p>
          <a:p>
            <a:pPr algn="l" marL="604524" indent="-302262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Test R²: 0.8272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849994" y="4564130"/>
            <a:ext cx="6380101" cy="6452694"/>
          </a:xfrm>
          <a:custGeom>
            <a:avLst/>
            <a:gdLst/>
            <a:ahLst/>
            <a:cxnLst/>
            <a:rect r="r" b="b" t="t" l="l"/>
            <a:pathLst>
              <a:path h="6452694" w="6380101">
                <a:moveTo>
                  <a:pt x="0" y="0"/>
                </a:moveTo>
                <a:lnTo>
                  <a:pt x="6380101" y="0"/>
                </a:lnTo>
                <a:lnTo>
                  <a:pt x="6380101" y="6452694"/>
                </a:lnTo>
                <a:lnTo>
                  <a:pt x="0" y="6452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00015" y="486519"/>
            <a:ext cx="1057371" cy="1113681"/>
          </a:xfrm>
          <a:custGeom>
            <a:avLst/>
            <a:gdLst/>
            <a:ahLst/>
            <a:cxnLst/>
            <a:rect r="r" b="b" t="t" l="l"/>
            <a:pathLst>
              <a:path h="1113681" w="1057371">
                <a:moveTo>
                  <a:pt x="0" y="0"/>
                </a:moveTo>
                <a:lnTo>
                  <a:pt x="1057370" y="0"/>
                </a:lnTo>
                <a:lnTo>
                  <a:pt x="1057370" y="1113681"/>
                </a:lnTo>
                <a:lnTo>
                  <a:pt x="0" y="11136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7395" t="-14434" r="-35019" b="-49263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664623" y="478305"/>
            <a:ext cx="1149498" cy="1149498"/>
          </a:xfrm>
          <a:custGeom>
            <a:avLst/>
            <a:gdLst/>
            <a:ahLst/>
            <a:cxnLst/>
            <a:rect r="r" b="b" t="t" l="l"/>
            <a:pathLst>
              <a:path h="1149498" w="1149498">
                <a:moveTo>
                  <a:pt x="0" y="0"/>
                </a:moveTo>
                <a:lnTo>
                  <a:pt x="1149498" y="0"/>
                </a:lnTo>
                <a:lnTo>
                  <a:pt x="1149498" y="1149498"/>
                </a:lnTo>
                <a:lnTo>
                  <a:pt x="0" y="11494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534" t="-2551" r="-20107" b="-73923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95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09807" y="-309859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49053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68668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3879" y="478305"/>
            <a:ext cx="17340241" cy="9330648"/>
            <a:chOff x="0" y="0"/>
            <a:chExt cx="4970565" cy="26746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70565" cy="2674622"/>
            </a:xfrm>
            <a:custGeom>
              <a:avLst/>
              <a:gdLst/>
              <a:ahLst/>
              <a:cxnLst/>
              <a:rect r="r" b="b" t="t" l="l"/>
              <a:pathLst>
                <a:path h="2674622" w="4970565">
                  <a:moveTo>
                    <a:pt x="22324" y="0"/>
                  </a:moveTo>
                  <a:lnTo>
                    <a:pt x="4948242" y="0"/>
                  </a:lnTo>
                  <a:cubicBezTo>
                    <a:pt x="4960570" y="0"/>
                    <a:pt x="4970565" y="9995"/>
                    <a:pt x="4970565" y="22324"/>
                  </a:cubicBezTo>
                  <a:lnTo>
                    <a:pt x="4970565" y="2652299"/>
                  </a:lnTo>
                  <a:cubicBezTo>
                    <a:pt x="4970565" y="2664628"/>
                    <a:pt x="4960570" y="2674622"/>
                    <a:pt x="4948242" y="2674622"/>
                  </a:cubicBezTo>
                  <a:lnTo>
                    <a:pt x="22324" y="2674622"/>
                  </a:lnTo>
                  <a:cubicBezTo>
                    <a:pt x="9995" y="2674622"/>
                    <a:pt x="0" y="2664628"/>
                    <a:pt x="0" y="2652299"/>
                  </a:cubicBezTo>
                  <a:lnTo>
                    <a:pt x="0" y="22324"/>
                  </a:lnTo>
                  <a:cubicBezTo>
                    <a:pt x="0" y="9995"/>
                    <a:pt x="9995" y="0"/>
                    <a:pt x="223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70565" cy="2722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377120" y="2715691"/>
            <a:ext cx="11533760" cy="6732832"/>
          </a:xfrm>
          <a:custGeom>
            <a:avLst/>
            <a:gdLst/>
            <a:ahLst/>
            <a:cxnLst/>
            <a:rect r="r" b="b" t="t" l="l"/>
            <a:pathLst>
              <a:path h="6732832" w="11533760">
                <a:moveTo>
                  <a:pt x="0" y="0"/>
                </a:moveTo>
                <a:lnTo>
                  <a:pt x="11533760" y="0"/>
                </a:lnTo>
                <a:lnTo>
                  <a:pt x="11533760" y="6732832"/>
                </a:lnTo>
                <a:lnTo>
                  <a:pt x="0" y="6732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41407" y="885825"/>
            <a:ext cx="11005185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REGRESSION SUMMARY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00015" y="486519"/>
            <a:ext cx="1057371" cy="1113681"/>
          </a:xfrm>
          <a:custGeom>
            <a:avLst/>
            <a:gdLst/>
            <a:ahLst/>
            <a:cxnLst/>
            <a:rect r="r" b="b" t="t" l="l"/>
            <a:pathLst>
              <a:path h="1113681" w="1057371">
                <a:moveTo>
                  <a:pt x="0" y="0"/>
                </a:moveTo>
                <a:lnTo>
                  <a:pt x="1057370" y="0"/>
                </a:lnTo>
                <a:lnTo>
                  <a:pt x="1057370" y="1113681"/>
                </a:lnTo>
                <a:lnTo>
                  <a:pt x="0" y="11136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395" t="-14434" r="-35019" b="-49263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664623" y="478305"/>
            <a:ext cx="1149498" cy="1149498"/>
          </a:xfrm>
          <a:custGeom>
            <a:avLst/>
            <a:gdLst/>
            <a:ahLst/>
            <a:cxnLst/>
            <a:rect r="r" b="b" t="t" l="l"/>
            <a:pathLst>
              <a:path h="1149498" w="1149498">
                <a:moveTo>
                  <a:pt x="0" y="0"/>
                </a:moveTo>
                <a:lnTo>
                  <a:pt x="1149498" y="0"/>
                </a:lnTo>
                <a:lnTo>
                  <a:pt x="1149498" y="1149498"/>
                </a:lnTo>
                <a:lnTo>
                  <a:pt x="0" y="11494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8534" t="-2551" r="-20107" b="-73923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95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09807" y="-309859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49053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68668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3879" y="478305"/>
            <a:ext cx="17340241" cy="9330648"/>
            <a:chOff x="0" y="0"/>
            <a:chExt cx="4970565" cy="26746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70565" cy="2674622"/>
            </a:xfrm>
            <a:custGeom>
              <a:avLst/>
              <a:gdLst/>
              <a:ahLst/>
              <a:cxnLst/>
              <a:rect r="r" b="b" t="t" l="l"/>
              <a:pathLst>
                <a:path h="2674622" w="4970565">
                  <a:moveTo>
                    <a:pt x="22324" y="0"/>
                  </a:moveTo>
                  <a:lnTo>
                    <a:pt x="4948242" y="0"/>
                  </a:lnTo>
                  <a:cubicBezTo>
                    <a:pt x="4960570" y="0"/>
                    <a:pt x="4970565" y="9995"/>
                    <a:pt x="4970565" y="22324"/>
                  </a:cubicBezTo>
                  <a:lnTo>
                    <a:pt x="4970565" y="2652299"/>
                  </a:lnTo>
                  <a:cubicBezTo>
                    <a:pt x="4970565" y="2664628"/>
                    <a:pt x="4960570" y="2674622"/>
                    <a:pt x="4948242" y="2674622"/>
                  </a:cubicBezTo>
                  <a:lnTo>
                    <a:pt x="22324" y="2674622"/>
                  </a:lnTo>
                  <a:cubicBezTo>
                    <a:pt x="9995" y="2674622"/>
                    <a:pt x="0" y="2664628"/>
                    <a:pt x="0" y="2652299"/>
                  </a:cubicBezTo>
                  <a:lnTo>
                    <a:pt x="0" y="22324"/>
                  </a:lnTo>
                  <a:cubicBezTo>
                    <a:pt x="0" y="9995"/>
                    <a:pt x="9995" y="0"/>
                    <a:pt x="223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70565" cy="2722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203031" y="885825"/>
            <a:ext cx="788193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CLASSIFICATION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5140" y="2598262"/>
            <a:ext cx="7819231" cy="6433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31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Classification by Price:</a:t>
            </a:r>
          </a:p>
          <a:p>
            <a:pPr algn="l" marL="1122679" indent="-561340" lvl="1">
              <a:lnSpc>
                <a:spcPts val="7331"/>
              </a:lnSpc>
              <a:buAutoNum type="arabicPeriod" startAt="1"/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Logistic</a:t>
            </a: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Regression.</a:t>
            </a:r>
          </a:p>
          <a:p>
            <a:pPr algn="l" marL="1122679" indent="-561340" lvl="1">
              <a:lnSpc>
                <a:spcPts val="7331"/>
              </a:lnSpc>
              <a:buAutoNum type="arabicPeriod" startAt="1"/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Naïve Bayes.</a:t>
            </a:r>
          </a:p>
          <a:p>
            <a:pPr algn="l" marL="1122679" indent="-561340" lvl="1">
              <a:lnSpc>
                <a:spcPts val="7331"/>
              </a:lnSpc>
              <a:buAutoNum type="arabicPeriod" startAt="1"/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Random Forest.</a:t>
            </a:r>
          </a:p>
          <a:p>
            <a:pPr algn="l">
              <a:lnSpc>
                <a:spcPts val="7331"/>
              </a:lnSpc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Classification by Rating:</a:t>
            </a:r>
          </a:p>
          <a:p>
            <a:pPr algn="l" marL="1122679" indent="-561340" lvl="1">
              <a:lnSpc>
                <a:spcPts val="7331"/>
              </a:lnSpc>
              <a:buAutoNum type="arabicPeriod" startAt="1"/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Naïve Bayes.</a:t>
            </a:r>
          </a:p>
          <a:p>
            <a:pPr algn="l" marL="1122679" indent="-561340" lvl="1">
              <a:lnSpc>
                <a:spcPts val="7331"/>
              </a:lnSpc>
              <a:buAutoNum type="arabicPeriod" startAt="1"/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K-Nearest Neighbors.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464832" y="3596561"/>
            <a:ext cx="5794468" cy="6212392"/>
          </a:xfrm>
          <a:custGeom>
            <a:avLst/>
            <a:gdLst/>
            <a:ahLst/>
            <a:cxnLst/>
            <a:rect r="r" b="b" t="t" l="l"/>
            <a:pathLst>
              <a:path h="6212392" w="5794468">
                <a:moveTo>
                  <a:pt x="0" y="0"/>
                </a:moveTo>
                <a:lnTo>
                  <a:pt x="5794468" y="0"/>
                </a:lnTo>
                <a:lnTo>
                  <a:pt x="5794468" y="6212392"/>
                </a:lnTo>
                <a:lnTo>
                  <a:pt x="0" y="6212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0015" y="486519"/>
            <a:ext cx="1057371" cy="1113681"/>
          </a:xfrm>
          <a:custGeom>
            <a:avLst/>
            <a:gdLst/>
            <a:ahLst/>
            <a:cxnLst/>
            <a:rect r="r" b="b" t="t" l="l"/>
            <a:pathLst>
              <a:path h="1113681" w="1057371">
                <a:moveTo>
                  <a:pt x="0" y="0"/>
                </a:moveTo>
                <a:lnTo>
                  <a:pt x="1057370" y="0"/>
                </a:lnTo>
                <a:lnTo>
                  <a:pt x="1057370" y="1113681"/>
                </a:lnTo>
                <a:lnTo>
                  <a:pt x="0" y="11136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7395" t="-14434" r="-35019" b="-49263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664623" y="478305"/>
            <a:ext cx="1149498" cy="1149498"/>
          </a:xfrm>
          <a:custGeom>
            <a:avLst/>
            <a:gdLst/>
            <a:ahLst/>
            <a:cxnLst/>
            <a:rect r="r" b="b" t="t" l="l"/>
            <a:pathLst>
              <a:path h="1149498" w="1149498">
                <a:moveTo>
                  <a:pt x="0" y="0"/>
                </a:moveTo>
                <a:lnTo>
                  <a:pt x="1149498" y="0"/>
                </a:lnTo>
                <a:lnTo>
                  <a:pt x="1149498" y="1149498"/>
                </a:lnTo>
                <a:lnTo>
                  <a:pt x="0" y="11494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534" t="-2551" r="-20107" b="-73923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95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09807" y="-309859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49053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68668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3879" y="478305"/>
            <a:ext cx="17340241" cy="9330648"/>
            <a:chOff x="0" y="0"/>
            <a:chExt cx="4970565" cy="26746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70565" cy="2674622"/>
            </a:xfrm>
            <a:custGeom>
              <a:avLst/>
              <a:gdLst/>
              <a:ahLst/>
              <a:cxnLst/>
              <a:rect r="r" b="b" t="t" l="l"/>
              <a:pathLst>
                <a:path h="2674622" w="4970565">
                  <a:moveTo>
                    <a:pt x="22324" y="0"/>
                  </a:moveTo>
                  <a:lnTo>
                    <a:pt x="4948242" y="0"/>
                  </a:lnTo>
                  <a:cubicBezTo>
                    <a:pt x="4960570" y="0"/>
                    <a:pt x="4970565" y="9995"/>
                    <a:pt x="4970565" y="22324"/>
                  </a:cubicBezTo>
                  <a:lnTo>
                    <a:pt x="4970565" y="2652299"/>
                  </a:lnTo>
                  <a:cubicBezTo>
                    <a:pt x="4970565" y="2664628"/>
                    <a:pt x="4960570" y="2674622"/>
                    <a:pt x="4948242" y="2674622"/>
                  </a:cubicBezTo>
                  <a:lnTo>
                    <a:pt x="22324" y="2674622"/>
                  </a:lnTo>
                  <a:cubicBezTo>
                    <a:pt x="9995" y="2674622"/>
                    <a:pt x="0" y="2664628"/>
                    <a:pt x="0" y="2652299"/>
                  </a:cubicBezTo>
                  <a:lnTo>
                    <a:pt x="0" y="22324"/>
                  </a:lnTo>
                  <a:cubicBezTo>
                    <a:pt x="0" y="9995"/>
                    <a:pt x="9995" y="0"/>
                    <a:pt x="223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70565" cy="2722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668512" y="5953730"/>
            <a:ext cx="4334348" cy="3738375"/>
          </a:xfrm>
          <a:custGeom>
            <a:avLst/>
            <a:gdLst/>
            <a:ahLst/>
            <a:cxnLst/>
            <a:rect r="r" b="b" t="t" l="l"/>
            <a:pathLst>
              <a:path h="3738375" w="4334348">
                <a:moveTo>
                  <a:pt x="0" y="0"/>
                </a:moveTo>
                <a:lnTo>
                  <a:pt x="4334348" y="0"/>
                </a:lnTo>
                <a:lnTo>
                  <a:pt x="4334348" y="3738375"/>
                </a:lnTo>
                <a:lnTo>
                  <a:pt x="0" y="37383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488576"/>
            <a:ext cx="15974160" cy="400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4" indent="-302262" lvl="1">
              <a:lnSpc>
                <a:spcPts val="6496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Acts as the baseline model for sorting devices into price tiers (Budget, Mid-range, Premium)</a:t>
            </a:r>
          </a:p>
          <a:p>
            <a:pPr algn="l" marL="604524" indent="-302262" lvl="1">
              <a:lnSpc>
                <a:spcPts val="6496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Provides clear, interpretable probability boundaries between different market segments</a:t>
            </a:r>
          </a:p>
          <a:p>
            <a:pPr algn="l" marL="604524" indent="-302262" lvl="1">
              <a:lnSpc>
                <a:spcPts val="6496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Struggles with edge cases where hardware specs heavily overlap between adjacent price tiers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02393" y="885825"/>
            <a:ext cx="10483215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LOGISTIC REGRESSION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617830"/>
            <a:ext cx="16230600" cy="1481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Result:</a:t>
            </a:r>
          </a:p>
          <a:p>
            <a:pPr algn="l" marL="604524" indent="-302262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Mean Accuracy: 0.7605 </a:t>
            </a:r>
          </a:p>
          <a:p>
            <a:pPr algn="l" marL="604524" indent="-302262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Standard Deviation: 0.0153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00015" y="486519"/>
            <a:ext cx="1057371" cy="1113681"/>
          </a:xfrm>
          <a:custGeom>
            <a:avLst/>
            <a:gdLst/>
            <a:ahLst/>
            <a:cxnLst/>
            <a:rect r="r" b="b" t="t" l="l"/>
            <a:pathLst>
              <a:path h="1113681" w="1057371">
                <a:moveTo>
                  <a:pt x="0" y="0"/>
                </a:moveTo>
                <a:lnTo>
                  <a:pt x="1057370" y="0"/>
                </a:lnTo>
                <a:lnTo>
                  <a:pt x="1057370" y="1113681"/>
                </a:lnTo>
                <a:lnTo>
                  <a:pt x="0" y="11136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395" t="-14434" r="-35019" b="-49263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664623" y="478305"/>
            <a:ext cx="1149498" cy="1149498"/>
          </a:xfrm>
          <a:custGeom>
            <a:avLst/>
            <a:gdLst/>
            <a:ahLst/>
            <a:cxnLst/>
            <a:rect r="r" b="b" t="t" l="l"/>
            <a:pathLst>
              <a:path h="1149498" w="1149498">
                <a:moveTo>
                  <a:pt x="0" y="0"/>
                </a:moveTo>
                <a:lnTo>
                  <a:pt x="1149498" y="0"/>
                </a:lnTo>
                <a:lnTo>
                  <a:pt x="1149498" y="1149498"/>
                </a:lnTo>
                <a:lnTo>
                  <a:pt x="0" y="11494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8534" t="-2551" r="-20107" b="-73923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95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09807" y="-309859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49053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68668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3879" y="478305"/>
            <a:ext cx="17340241" cy="9330648"/>
            <a:chOff x="0" y="0"/>
            <a:chExt cx="4970565" cy="26746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70565" cy="2674622"/>
            </a:xfrm>
            <a:custGeom>
              <a:avLst/>
              <a:gdLst/>
              <a:ahLst/>
              <a:cxnLst/>
              <a:rect r="r" b="b" t="t" l="l"/>
              <a:pathLst>
                <a:path h="2674622" w="4970565">
                  <a:moveTo>
                    <a:pt x="22324" y="0"/>
                  </a:moveTo>
                  <a:lnTo>
                    <a:pt x="4948242" y="0"/>
                  </a:lnTo>
                  <a:cubicBezTo>
                    <a:pt x="4960570" y="0"/>
                    <a:pt x="4970565" y="9995"/>
                    <a:pt x="4970565" y="22324"/>
                  </a:cubicBezTo>
                  <a:lnTo>
                    <a:pt x="4970565" y="2652299"/>
                  </a:lnTo>
                  <a:cubicBezTo>
                    <a:pt x="4970565" y="2664628"/>
                    <a:pt x="4960570" y="2674622"/>
                    <a:pt x="4948242" y="2674622"/>
                  </a:cubicBezTo>
                  <a:lnTo>
                    <a:pt x="22324" y="2674622"/>
                  </a:lnTo>
                  <a:cubicBezTo>
                    <a:pt x="9995" y="2674622"/>
                    <a:pt x="0" y="2664628"/>
                    <a:pt x="0" y="2652299"/>
                  </a:cubicBezTo>
                  <a:lnTo>
                    <a:pt x="0" y="22324"/>
                  </a:lnTo>
                  <a:cubicBezTo>
                    <a:pt x="0" y="9995"/>
                    <a:pt x="9995" y="0"/>
                    <a:pt x="223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70565" cy="2722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630653" y="4760726"/>
            <a:ext cx="5628647" cy="4497574"/>
          </a:xfrm>
          <a:custGeom>
            <a:avLst/>
            <a:gdLst/>
            <a:ahLst/>
            <a:cxnLst/>
            <a:rect r="r" b="b" t="t" l="l"/>
            <a:pathLst>
              <a:path h="4497574" w="5628647">
                <a:moveTo>
                  <a:pt x="0" y="0"/>
                </a:moveTo>
                <a:lnTo>
                  <a:pt x="5628647" y="0"/>
                </a:lnTo>
                <a:lnTo>
                  <a:pt x="5628647" y="4497574"/>
                </a:lnTo>
                <a:lnTo>
                  <a:pt x="0" y="44975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aphicFrame>
        <p:nvGraphicFramePr>
          <p:cNvPr name="Object 9" id="9"/>
          <p:cNvGraphicFramePr/>
          <p:nvPr/>
        </p:nvGraphicFramePr>
        <p:xfrm>
          <a:off x="1168291" y="6586610"/>
          <a:ext cx="9429750" cy="4400550"/>
        </p:xfrm>
        <a:graphic>
          <a:graphicData uri="http://schemas.openxmlformats.org/presentationml/2006/ole">
            <p:oleObj imgW="11315700" imgH="62865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028700" y="2602876"/>
            <a:ext cx="15974160" cy="3278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4" indent="-302262" lvl="1">
              <a:lnSpc>
                <a:spcPts val="5292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It is fast, computationally efficient baseline model.</a:t>
            </a:r>
          </a:p>
          <a:p>
            <a:pPr algn="l" marL="604524" indent="-302262" lvl="1">
              <a:lnSpc>
                <a:spcPts val="5292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Predicts price tiers by assuming all hardware features are strictly independent.</a:t>
            </a:r>
          </a:p>
          <a:p>
            <a:pPr algn="l" marL="604524" indent="-302262" lvl="1">
              <a:lnSpc>
                <a:spcPts val="5292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In the real world, smartphone specs are highly correlated. This assumption limits the model's accuracy when defining precise price brackets.</a:t>
            </a:r>
          </a:p>
          <a:p>
            <a:pPr algn="l" marL="604524" indent="-302262" lvl="1">
              <a:lnSpc>
                <a:spcPts val="5292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Accuracy: 0.7842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31694" y="885825"/>
            <a:ext cx="642461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NAÏVE BAYES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00015" y="486519"/>
            <a:ext cx="1057371" cy="1113681"/>
          </a:xfrm>
          <a:custGeom>
            <a:avLst/>
            <a:gdLst/>
            <a:ahLst/>
            <a:cxnLst/>
            <a:rect r="r" b="b" t="t" l="l"/>
            <a:pathLst>
              <a:path h="1113681" w="1057371">
                <a:moveTo>
                  <a:pt x="0" y="0"/>
                </a:moveTo>
                <a:lnTo>
                  <a:pt x="1057370" y="0"/>
                </a:lnTo>
                <a:lnTo>
                  <a:pt x="1057370" y="1113681"/>
                </a:lnTo>
                <a:lnTo>
                  <a:pt x="0" y="11136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7395" t="-14434" r="-35019" b="-49263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664623" y="478305"/>
            <a:ext cx="1149498" cy="1149498"/>
          </a:xfrm>
          <a:custGeom>
            <a:avLst/>
            <a:gdLst/>
            <a:ahLst/>
            <a:cxnLst/>
            <a:rect r="r" b="b" t="t" l="l"/>
            <a:pathLst>
              <a:path h="1149498" w="1149498">
                <a:moveTo>
                  <a:pt x="0" y="0"/>
                </a:moveTo>
                <a:lnTo>
                  <a:pt x="1149498" y="0"/>
                </a:lnTo>
                <a:lnTo>
                  <a:pt x="1149498" y="1149498"/>
                </a:lnTo>
                <a:lnTo>
                  <a:pt x="0" y="11494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8534" t="-2551" r="-20107" b="-73923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95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09807" y="-309859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49053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68668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3879" y="478305"/>
            <a:ext cx="17340241" cy="9330648"/>
            <a:chOff x="0" y="0"/>
            <a:chExt cx="4970565" cy="26746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70565" cy="2674622"/>
            </a:xfrm>
            <a:custGeom>
              <a:avLst/>
              <a:gdLst/>
              <a:ahLst/>
              <a:cxnLst/>
              <a:rect r="r" b="b" t="t" l="l"/>
              <a:pathLst>
                <a:path h="2674622" w="4970565">
                  <a:moveTo>
                    <a:pt x="22324" y="0"/>
                  </a:moveTo>
                  <a:lnTo>
                    <a:pt x="4948242" y="0"/>
                  </a:lnTo>
                  <a:cubicBezTo>
                    <a:pt x="4960570" y="0"/>
                    <a:pt x="4970565" y="9995"/>
                    <a:pt x="4970565" y="22324"/>
                  </a:cubicBezTo>
                  <a:lnTo>
                    <a:pt x="4970565" y="2652299"/>
                  </a:lnTo>
                  <a:cubicBezTo>
                    <a:pt x="4970565" y="2664628"/>
                    <a:pt x="4960570" y="2674622"/>
                    <a:pt x="4948242" y="2674622"/>
                  </a:cubicBezTo>
                  <a:lnTo>
                    <a:pt x="22324" y="2674622"/>
                  </a:lnTo>
                  <a:cubicBezTo>
                    <a:pt x="9995" y="2674622"/>
                    <a:pt x="0" y="2664628"/>
                    <a:pt x="0" y="2652299"/>
                  </a:cubicBezTo>
                  <a:lnTo>
                    <a:pt x="0" y="22324"/>
                  </a:lnTo>
                  <a:cubicBezTo>
                    <a:pt x="0" y="9995"/>
                    <a:pt x="9995" y="0"/>
                    <a:pt x="223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70565" cy="2722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Object 8" id="8"/>
          <p:cNvGraphicFramePr/>
          <p:nvPr/>
        </p:nvGraphicFramePr>
        <p:xfrm>
          <a:off x="1285140" y="6755792"/>
          <a:ext cx="9429750" cy="2514600"/>
        </p:xfrm>
        <a:graphic>
          <a:graphicData uri="http://schemas.openxmlformats.org/presentationml/2006/ole">
            <p:oleObj imgW="11315700" imgH="4394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9" id="9"/>
          <p:cNvSpPr/>
          <p:nvPr/>
        </p:nvSpPr>
        <p:spPr>
          <a:xfrm flipH="false" flipV="false" rot="0">
            <a:off x="11265228" y="5785930"/>
            <a:ext cx="5383519" cy="3472370"/>
          </a:xfrm>
          <a:custGeom>
            <a:avLst/>
            <a:gdLst/>
            <a:ahLst/>
            <a:cxnLst/>
            <a:rect r="r" b="b" t="t" l="l"/>
            <a:pathLst>
              <a:path h="3472370" w="5383519">
                <a:moveTo>
                  <a:pt x="0" y="0"/>
                </a:moveTo>
                <a:lnTo>
                  <a:pt x="5383519" y="0"/>
                </a:lnTo>
                <a:lnTo>
                  <a:pt x="5383519" y="3472370"/>
                </a:lnTo>
                <a:lnTo>
                  <a:pt x="0" y="34723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2233705"/>
            <a:ext cx="15974160" cy="4226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4" indent="-302262" lvl="1">
              <a:lnSpc>
                <a:spcPts val="5628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The ultimate winner for defining distinct market brackets.</a:t>
            </a:r>
          </a:p>
          <a:p>
            <a:pPr algn="l" marL="604524" indent="-302262" lvl="1">
              <a:lnSpc>
                <a:spcPts val="5628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Tree-based logic perfectly handles complex, overlapping feature combinations without getting confused.</a:t>
            </a:r>
          </a:p>
          <a:p>
            <a:pPr algn="l" marL="604524" indent="-302262" lvl="1">
              <a:lnSpc>
                <a:spcPts val="5628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Effectively immune to outliers and mimics exactly how the industry logically groups devices based on specification jumps.</a:t>
            </a:r>
          </a:p>
          <a:p>
            <a:pPr algn="l" marL="604524" indent="-302262" lvl="1">
              <a:lnSpc>
                <a:spcPts val="5628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Model performance : Accuracy: 0.8632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94434" y="885825"/>
            <a:ext cx="829913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RANDOM FOREST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00015" y="486519"/>
            <a:ext cx="1057371" cy="1113681"/>
          </a:xfrm>
          <a:custGeom>
            <a:avLst/>
            <a:gdLst/>
            <a:ahLst/>
            <a:cxnLst/>
            <a:rect r="r" b="b" t="t" l="l"/>
            <a:pathLst>
              <a:path h="1113681" w="1057371">
                <a:moveTo>
                  <a:pt x="0" y="0"/>
                </a:moveTo>
                <a:lnTo>
                  <a:pt x="1057370" y="0"/>
                </a:lnTo>
                <a:lnTo>
                  <a:pt x="1057370" y="1113681"/>
                </a:lnTo>
                <a:lnTo>
                  <a:pt x="0" y="11136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7395" t="-14434" r="-35019" b="-49263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664623" y="478305"/>
            <a:ext cx="1149498" cy="1149498"/>
          </a:xfrm>
          <a:custGeom>
            <a:avLst/>
            <a:gdLst/>
            <a:ahLst/>
            <a:cxnLst/>
            <a:rect r="r" b="b" t="t" l="l"/>
            <a:pathLst>
              <a:path h="1149498" w="1149498">
                <a:moveTo>
                  <a:pt x="0" y="0"/>
                </a:moveTo>
                <a:lnTo>
                  <a:pt x="1149498" y="0"/>
                </a:lnTo>
                <a:lnTo>
                  <a:pt x="1149498" y="1149498"/>
                </a:lnTo>
                <a:lnTo>
                  <a:pt x="0" y="11494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8534" t="-2551" r="-20107" b="-73923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95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09807" y="-309859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49053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68668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3879" y="478305"/>
            <a:ext cx="17340241" cy="9330648"/>
            <a:chOff x="0" y="0"/>
            <a:chExt cx="4970565" cy="26746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70565" cy="2674622"/>
            </a:xfrm>
            <a:custGeom>
              <a:avLst/>
              <a:gdLst/>
              <a:ahLst/>
              <a:cxnLst/>
              <a:rect r="r" b="b" t="t" l="l"/>
              <a:pathLst>
                <a:path h="2674622" w="4970565">
                  <a:moveTo>
                    <a:pt x="22324" y="0"/>
                  </a:moveTo>
                  <a:lnTo>
                    <a:pt x="4948242" y="0"/>
                  </a:lnTo>
                  <a:cubicBezTo>
                    <a:pt x="4960570" y="0"/>
                    <a:pt x="4970565" y="9995"/>
                    <a:pt x="4970565" y="22324"/>
                  </a:cubicBezTo>
                  <a:lnTo>
                    <a:pt x="4970565" y="2652299"/>
                  </a:lnTo>
                  <a:cubicBezTo>
                    <a:pt x="4970565" y="2664628"/>
                    <a:pt x="4960570" y="2674622"/>
                    <a:pt x="4948242" y="2674622"/>
                  </a:cubicBezTo>
                  <a:lnTo>
                    <a:pt x="22324" y="2674622"/>
                  </a:lnTo>
                  <a:cubicBezTo>
                    <a:pt x="9995" y="2674622"/>
                    <a:pt x="0" y="2664628"/>
                    <a:pt x="0" y="2652299"/>
                  </a:cubicBezTo>
                  <a:lnTo>
                    <a:pt x="0" y="22324"/>
                  </a:lnTo>
                  <a:cubicBezTo>
                    <a:pt x="0" y="9995"/>
                    <a:pt x="9995" y="0"/>
                    <a:pt x="223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70565" cy="2722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356306" y="5644258"/>
            <a:ext cx="4328104" cy="3911524"/>
          </a:xfrm>
          <a:custGeom>
            <a:avLst/>
            <a:gdLst/>
            <a:ahLst/>
            <a:cxnLst/>
            <a:rect r="r" b="b" t="t" l="l"/>
            <a:pathLst>
              <a:path h="3911524" w="4328104">
                <a:moveTo>
                  <a:pt x="0" y="0"/>
                </a:moveTo>
                <a:lnTo>
                  <a:pt x="4328104" y="0"/>
                </a:lnTo>
                <a:lnTo>
                  <a:pt x="4328104" y="3911524"/>
                </a:lnTo>
                <a:lnTo>
                  <a:pt x="0" y="39115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564776"/>
            <a:ext cx="15974160" cy="350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4" indent="-302262" lvl="1">
              <a:lnSpc>
                <a:spcPts val="5684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Baseline model for predicting user satisfaction/rating tiers (e.g., High, Medium, Low).</a:t>
            </a:r>
          </a:p>
          <a:p>
            <a:pPr algn="l" marL="604524" indent="-302262" lvl="1">
              <a:lnSpc>
                <a:spcPts val="5684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Fast to compute but struggles with accuracy.</a:t>
            </a:r>
          </a:p>
          <a:p>
            <a:pPr algn="l" marL="604524" indent="-302262" lvl="1">
              <a:lnSpc>
                <a:spcPts val="5684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User ratings are highly subjective and do not correlate to hardware specifications as strictly or independently as price does, exposing the flaws of the "independent feature" assumption.</a:t>
            </a:r>
          </a:p>
        </p:txBody>
      </p:sp>
      <p:graphicFrame>
        <p:nvGraphicFramePr>
          <p:cNvPr name="Object 10" id="10"/>
          <p:cNvGraphicFramePr/>
          <p:nvPr/>
        </p:nvGraphicFramePr>
        <p:xfrm>
          <a:off x="1285140" y="6689225"/>
          <a:ext cx="9429750" cy="1885950"/>
        </p:xfrm>
        <a:graphic>
          <a:graphicData uri="http://schemas.openxmlformats.org/presentationml/2006/ole">
            <p:oleObj imgW="11315700" imgH="37719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5931694" y="885825"/>
            <a:ext cx="642461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NAÏVE BAYES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00015" y="486519"/>
            <a:ext cx="1057371" cy="1113681"/>
          </a:xfrm>
          <a:custGeom>
            <a:avLst/>
            <a:gdLst/>
            <a:ahLst/>
            <a:cxnLst/>
            <a:rect r="r" b="b" t="t" l="l"/>
            <a:pathLst>
              <a:path h="1113681" w="1057371">
                <a:moveTo>
                  <a:pt x="0" y="0"/>
                </a:moveTo>
                <a:lnTo>
                  <a:pt x="1057370" y="0"/>
                </a:lnTo>
                <a:lnTo>
                  <a:pt x="1057370" y="1113681"/>
                </a:lnTo>
                <a:lnTo>
                  <a:pt x="0" y="11136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7395" t="-14434" r="-35019" b="-49263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664623" y="478305"/>
            <a:ext cx="1149498" cy="1149498"/>
          </a:xfrm>
          <a:custGeom>
            <a:avLst/>
            <a:gdLst/>
            <a:ahLst/>
            <a:cxnLst/>
            <a:rect r="r" b="b" t="t" l="l"/>
            <a:pathLst>
              <a:path h="1149498" w="1149498">
                <a:moveTo>
                  <a:pt x="0" y="0"/>
                </a:moveTo>
                <a:lnTo>
                  <a:pt x="1149498" y="0"/>
                </a:lnTo>
                <a:lnTo>
                  <a:pt x="1149498" y="1149498"/>
                </a:lnTo>
                <a:lnTo>
                  <a:pt x="0" y="11494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8534" t="-2551" r="-20107" b="-73923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95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09807" y="-309859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49053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68668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3879" y="478305"/>
            <a:ext cx="17340241" cy="9330648"/>
            <a:chOff x="0" y="0"/>
            <a:chExt cx="4970565" cy="26746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70565" cy="2674622"/>
            </a:xfrm>
            <a:custGeom>
              <a:avLst/>
              <a:gdLst/>
              <a:ahLst/>
              <a:cxnLst/>
              <a:rect r="r" b="b" t="t" l="l"/>
              <a:pathLst>
                <a:path h="2674622" w="4970565">
                  <a:moveTo>
                    <a:pt x="22324" y="0"/>
                  </a:moveTo>
                  <a:lnTo>
                    <a:pt x="4948242" y="0"/>
                  </a:lnTo>
                  <a:cubicBezTo>
                    <a:pt x="4960570" y="0"/>
                    <a:pt x="4970565" y="9995"/>
                    <a:pt x="4970565" y="22324"/>
                  </a:cubicBezTo>
                  <a:lnTo>
                    <a:pt x="4970565" y="2652299"/>
                  </a:lnTo>
                  <a:cubicBezTo>
                    <a:pt x="4970565" y="2664628"/>
                    <a:pt x="4960570" y="2674622"/>
                    <a:pt x="4948242" y="2674622"/>
                  </a:cubicBezTo>
                  <a:lnTo>
                    <a:pt x="22324" y="2674622"/>
                  </a:lnTo>
                  <a:cubicBezTo>
                    <a:pt x="9995" y="2674622"/>
                    <a:pt x="0" y="2664628"/>
                    <a:pt x="0" y="2652299"/>
                  </a:cubicBezTo>
                  <a:lnTo>
                    <a:pt x="0" y="22324"/>
                  </a:lnTo>
                  <a:cubicBezTo>
                    <a:pt x="0" y="9995"/>
                    <a:pt x="9995" y="0"/>
                    <a:pt x="223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70565" cy="2722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454241" y="6000147"/>
            <a:ext cx="4791401" cy="3258153"/>
          </a:xfrm>
          <a:custGeom>
            <a:avLst/>
            <a:gdLst/>
            <a:ahLst/>
            <a:cxnLst/>
            <a:rect r="r" b="b" t="t" l="l"/>
            <a:pathLst>
              <a:path h="3258153" w="4791401">
                <a:moveTo>
                  <a:pt x="0" y="0"/>
                </a:moveTo>
                <a:lnTo>
                  <a:pt x="4791401" y="0"/>
                </a:lnTo>
                <a:lnTo>
                  <a:pt x="4791401" y="3258153"/>
                </a:lnTo>
                <a:lnTo>
                  <a:pt x="0" y="32581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480697" y="6231416"/>
            <a:ext cx="3353062" cy="2795615"/>
          </a:xfrm>
          <a:custGeom>
            <a:avLst/>
            <a:gdLst/>
            <a:ahLst/>
            <a:cxnLst/>
            <a:rect r="r" b="b" t="t" l="l"/>
            <a:pathLst>
              <a:path h="2795615" w="3353062">
                <a:moveTo>
                  <a:pt x="0" y="0"/>
                </a:moveTo>
                <a:lnTo>
                  <a:pt x="3353062" y="0"/>
                </a:lnTo>
                <a:lnTo>
                  <a:pt x="3353062" y="2795615"/>
                </a:lnTo>
                <a:lnTo>
                  <a:pt x="0" y="27956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2488576"/>
            <a:ext cx="15974160" cy="400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4" indent="-302262" lvl="1">
              <a:lnSpc>
                <a:spcPts val="6496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Performance: Moderate</a:t>
            </a:r>
          </a:p>
          <a:p>
            <a:pPr algn="l" marL="604524" indent="-302262" lvl="1">
              <a:lnSpc>
                <a:spcPts val="6496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Classifies devices based on their "closeness" to similar phones in the dataset.</a:t>
            </a:r>
          </a:p>
          <a:p>
            <a:pPr algn="l" marL="604524" indent="-302262" lvl="1">
              <a:lnSpc>
                <a:spcPts val="6496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Highly dependent on standard scaling.</a:t>
            </a:r>
          </a:p>
          <a:p>
            <a:pPr algn="l" marL="604524" indent="-302262" lvl="1">
              <a:lnSpc>
                <a:spcPts val="6496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K = 3 was the optimal K value with an accuracy of 0.72</a:t>
            </a:r>
          </a:p>
          <a:p>
            <a:pPr algn="l">
              <a:lnSpc>
                <a:spcPts val="6496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454241" y="885825"/>
            <a:ext cx="1137951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K-NEAREST NEIGHBORS 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00015" y="486519"/>
            <a:ext cx="1057371" cy="1113681"/>
          </a:xfrm>
          <a:custGeom>
            <a:avLst/>
            <a:gdLst/>
            <a:ahLst/>
            <a:cxnLst/>
            <a:rect r="r" b="b" t="t" l="l"/>
            <a:pathLst>
              <a:path h="1113681" w="1057371">
                <a:moveTo>
                  <a:pt x="0" y="0"/>
                </a:moveTo>
                <a:lnTo>
                  <a:pt x="1057370" y="0"/>
                </a:lnTo>
                <a:lnTo>
                  <a:pt x="1057370" y="1113681"/>
                </a:lnTo>
                <a:lnTo>
                  <a:pt x="0" y="11136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7395" t="-14434" r="-35019" b="-49263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664623" y="478305"/>
            <a:ext cx="1149498" cy="1149498"/>
          </a:xfrm>
          <a:custGeom>
            <a:avLst/>
            <a:gdLst/>
            <a:ahLst/>
            <a:cxnLst/>
            <a:rect r="r" b="b" t="t" l="l"/>
            <a:pathLst>
              <a:path h="1149498" w="1149498">
                <a:moveTo>
                  <a:pt x="0" y="0"/>
                </a:moveTo>
                <a:lnTo>
                  <a:pt x="1149498" y="0"/>
                </a:lnTo>
                <a:lnTo>
                  <a:pt x="1149498" y="1149498"/>
                </a:lnTo>
                <a:lnTo>
                  <a:pt x="0" y="11494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534" t="-2551" r="-20107" b="-73923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95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09807" y="-309859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49053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68668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3879" y="478305"/>
            <a:ext cx="17340241" cy="9330648"/>
            <a:chOff x="0" y="0"/>
            <a:chExt cx="4970565" cy="26746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70565" cy="2674622"/>
            </a:xfrm>
            <a:custGeom>
              <a:avLst/>
              <a:gdLst/>
              <a:ahLst/>
              <a:cxnLst/>
              <a:rect r="r" b="b" t="t" l="l"/>
              <a:pathLst>
                <a:path h="2674622" w="4970565">
                  <a:moveTo>
                    <a:pt x="22324" y="0"/>
                  </a:moveTo>
                  <a:lnTo>
                    <a:pt x="4948242" y="0"/>
                  </a:lnTo>
                  <a:cubicBezTo>
                    <a:pt x="4960570" y="0"/>
                    <a:pt x="4970565" y="9995"/>
                    <a:pt x="4970565" y="22324"/>
                  </a:cubicBezTo>
                  <a:lnTo>
                    <a:pt x="4970565" y="2652299"/>
                  </a:lnTo>
                  <a:cubicBezTo>
                    <a:pt x="4970565" y="2664628"/>
                    <a:pt x="4960570" y="2674622"/>
                    <a:pt x="4948242" y="2674622"/>
                  </a:cubicBezTo>
                  <a:lnTo>
                    <a:pt x="22324" y="2674622"/>
                  </a:lnTo>
                  <a:cubicBezTo>
                    <a:pt x="9995" y="2674622"/>
                    <a:pt x="0" y="2664628"/>
                    <a:pt x="0" y="2652299"/>
                  </a:cubicBezTo>
                  <a:lnTo>
                    <a:pt x="0" y="22324"/>
                  </a:lnTo>
                  <a:cubicBezTo>
                    <a:pt x="0" y="9995"/>
                    <a:pt x="9995" y="0"/>
                    <a:pt x="223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70565" cy="2722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85140" y="3315850"/>
            <a:ext cx="13958451" cy="4659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4" indent="-302262" lvl="1">
              <a:lnSpc>
                <a:spcPts val="6272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Focus on Core Specs: </a:t>
            </a:r>
            <a:r>
              <a:rPr lang="en-US" sz="28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Optimize RAM, Screen Resolution, and CPU cores, as they are the biggest drivers of mid-range prices.</a:t>
            </a:r>
          </a:p>
          <a:p>
            <a:pPr algn="l" marL="604524" indent="-302262" lvl="1">
              <a:lnSpc>
                <a:spcPts val="6272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Fix Data Gaps:</a:t>
            </a:r>
            <a:r>
              <a:rPr lang="en-US" sz="28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Standardize the collection of frequently missing specs like exact Chipsets and Fast Charging wattage.</a:t>
            </a:r>
          </a:p>
          <a:p>
            <a:pPr algn="l" marL="604524" indent="-302262" lvl="1">
              <a:lnSpc>
                <a:spcPts val="6272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Account for Brand Value:</a:t>
            </a:r>
            <a:r>
              <a:rPr lang="en-US" sz="28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Future models must include brand and ecosystem data to fix the "luxury tax" valuation gap in premium phones.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47899" y="1441883"/>
            <a:ext cx="6192203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CONCLUSION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734457" y="6715731"/>
            <a:ext cx="2524843" cy="3093223"/>
          </a:xfrm>
          <a:custGeom>
            <a:avLst/>
            <a:gdLst/>
            <a:ahLst/>
            <a:cxnLst/>
            <a:rect r="r" b="b" t="t" l="l"/>
            <a:pathLst>
              <a:path h="3093223" w="2524843">
                <a:moveTo>
                  <a:pt x="0" y="0"/>
                </a:moveTo>
                <a:lnTo>
                  <a:pt x="2524843" y="0"/>
                </a:lnTo>
                <a:lnTo>
                  <a:pt x="2524843" y="3093222"/>
                </a:lnTo>
                <a:lnTo>
                  <a:pt x="0" y="3093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154768" y="792794"/>
            <a:ext cx="1459236" cy="1459236"/>
          </a:xfrm>
          <a:custGeom>
            <a:avLst/>
            <a:gdLst/>
            <a:ahLst/>
            <a:cxnLst/>
            <a:rect r="r" b="b" t="t" l="l"/>
            <a:pathLst>
              <a:path h="1459236" w="1459236">
                <a:moveTo>
                  <a:pt x="0" y="0"/>
                </a:moveTo>
                <a:lnTo>
                  <a:pt x="1459236" y="0"/>
                </a:lnTo>
                <a:lnTo>
                  <a:pt x="1459236" y="1459237"/>
                </a:lnTo>
                <a:lnTo>
                  <a:pt x="0" y="14592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8534" t="-2551" r="-20107" b="-73923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00015" y="486519"/>
            <a:ext cx="1057371" cy="1113681"/>
          </a:xfrm>
          <a:custGeom>
            <a:avLst/>
            <a:gdLst/>
            <a:ahLst/>
            <a:cxnLst/>
            <a:rect r="r" b="b" t="t" l="l"/>
            <a:pathLst>
              <a:path h="1113681" w="1057371">
                <a:moveTo>
                  <a:pt x="0" y="0"/>
                </a:moveTo>
                <a:lnTo>
                  <a:pt x="1057370" y="0"/>
                </a:lnTo>
                <a:lnTo>
                  <a:pt x="1057370" y="1113681"/>
                </a:lnTo>
                <a:lnTo>
                  <a:pt x="0" y="11136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7395" t="-14434" r="-35019" b="-49263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95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09807" y="-309859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49053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68668" y="-309601"/>
            <a:ext cx="7868385" cy="10906460"/>
          </a:xfrm>
          <a:custGeom>
            <a:avLst/>
            <a:gdLst/>
            <a:ahLst/>
            <a:cxnLst/>
            <a:rect r="r" b="b" t="t" l="l"/>
            <a:pathLst>
              <a:path h="10906460" w="7868385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125" r="-10116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5274950" cy="26746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74950" cy="2674622"/>
            </a:xfrm>
            <a:custGeom>
              <a:avLst/>
              <a:gdLst/>
              <a:ahLst/>
              <a:cxnLst/>
              <a:rect r="r" b="b" t="t" l="l"/>
              <a:pathLst>
                <a:path h="2674622" w="5274950">
                  <a:moveTo>
                    <a:pt x="23850" y="0"/>
                  </a:moveTo>
                  <a:lnTo>
                    <a:pt x="5251100" y="0"/>
                  </a:lnTo>
                  <a:cubicBezTo>
                    <a:pt x="5264272" y="0"/>
                    <a:pt x="5274950" y="10678"/>
                    <a:pt x="5274950" y="23850"/>
                  </a:cubicBezTo>
                  <a:lnTo>
                    <a:pt x="5274950" y="2650773"/>
                  </a:lnTo>
                  <a:cubicBezTo>
                    <a:pt x="5274950" y="2657098"/>
                    <a:pt x="5272437" y="2663164"/>
                    <a:pt x="5267964" y="2667637"/>
                  </a:cubicBezTo>
                  <a:cubicBezTo>
                    <a:pt x="5263492" y="2672110"/>
                    <a:pt x="5257425" y="2674622"/>
                    <a:pt x="5251100" y="2674622"/>
                  </a:cubicBezTo>
                  <a:lnTo>
                    <a:pt x="23850" y="2674622"/>
                  </a:lnTo>
                  <a:cubicBezTo>
                    <a:pt x="17524" y="2674622"/>
                    <a:pt x="11458" y="2672110"/>
                    <a:pt x="6985" y="2667637"/>
                  </a:cubicBezTo>
                  <a:cubicBezTo>
                    <a:pt x="2513" y="2663164"/>
                    <a:pt x="0" y="2657098"/>
                    <a:pt x="0" y="265077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274950" cy="2722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543624" y="1309734"/>
            <a:ext cx="1459236" cy="1459236"/>
          </a:xfrm>
          <a:custGeom>
            <a:avLst/>
            <a:gdLst/>
            <a:ahLst/>
            <a:cxnLst/>
            <a:rect r="r" b="b" t="t" l="l"/>
            <a:pathLst>
              <a:path h="1459236" w="1459236">
                <a:moveTo>
                  <a:pt x="0" y="0"/>
                </a:moveTo>
                <a:lnTo>
                  <a:pt x="1459236" y="0"/>
                </a:lnTo>
                <a:lnTo>
                  <a:pt x="1459236" y="1459236"/>
                </a:lnTo>
                <a:lnTo>
                  <a:pt x="0" y="14592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534" t="-2551" r="-20107" b="-7392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1028700"/>
            <a:ext cx="1057371" cy="1113681"/>
          </a:xfrm>
          <a:custGeom>
            <a:avLst/>
            <a:gdLst/>
            <a:ahLst/>
            <a:cxnLst/>
            <a:rect r="r" b="b" t="t" l="l"/>
            <a:pathLst>
              <a:path h="1113681" w="1057371">
                <a:moveTo>
                  <a:pt x="0" y="0"/>
                </a:moveTo>
                <a:lnTo>
                  <a:pt x="1057371" y="0"/>
                </a:lnTo>
                <a:lnTo>
                  <a:pt x="1057371" y="1113681"/>
                </a:lnTo>
                <a:lnTo>
                  <a:pt x="0" y="11136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395" t="-14434" r="-35019" b="-49263"/>
            </a:stretch>
          </a:blipFill>
        </p:spPr>
      </p:sp>
      <p:graphicFrame>
        <p:nvGraphicFramePr>
          <p:cNvPr name="Object 10" id="10"/>
          <p:cNvGraphicFramePr/>
          <p:nvPr/>
        </p:nvGraphicFramePr>
        <p:xfrm>
          <a:off x="2086071" y="4425563"/>
          <a:ext cx="9429750" cy="3143250"/>
        </p:xfrm>
        <a:graphic>
          <a:graphicData uri="http://schemas.openxmlformats.org/presentationml/2006/ole">
            <p:oleObj imgW="11315700" imgH="5029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11" id="11"/>
          <p:cNvSpPr/>
          <p:nvPr/>
        </p:nvSpPr>
        <p:spPr>
          <a:xfrm flipH="false" flipV="false" rot="0">
            <a:off x="12653265" y="4425563"/>
            <a:ext cx="3318877" cy="3318877"/>
          </a:xfrm>
          <a:custGeom>
            <a:avLst/>
            <a:gdLst/>
            <a:ahLst/>
            <a:cxnLst/>
            <a:rect r="r" b="b" t="t" l="l"/>
            <a:pathLst>
              <a:path h="3318877" w="3318877">
                <a:moveTo>
                  <a:pt x="0" y="0"/>
                </a:moveTo>
                <a:lnTo>
                  <a:pt x="3318877" y="0"/>
                </a:lnTo>
                <a:lnTo>
                  <a:pt x="3318877" y="3318878"/>
                </a:lnTo>
                <a:lnTo>
                  <a:pt x="0" y="33188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080284" y="1483095"/>
            <a:ext cx="612743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DAHJKsqZgzw</dc:identifier>
  <dcterms:modified xsi:type="dcterms:W3CDTF">2011-08-01T06:04:30Z</dcterms:modified>
  <cp:revision>1</cp:revision>
  <dc:title>Data Science Presentation</dc:title>
</cp:coreProperties>
</file>